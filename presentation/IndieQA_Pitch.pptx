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3e93297-6e8c-f4c5-8598-08d9ec1fe993}">
          <p14:sldIdLst>
            <p14:sldId id="256"/>
          </p14:sldIdLst>
        </p14:section>
        <p14:section name="Problem &amp; solution" id="{405090fe-40e4-94ff-6fc9-6d3f4a87db69}">
          <p14:sldIdLst>
            <p14:sldId id="257"/>
            <p14:sldId id="258"/>
            <p14:sldId id="259"/>
          </p14:sldIdLst>
        </p14:section>
        <p14:section name="Proof" id="{fc1629ab-3e73-cc6c-55cc-aeddafe6bed0}">
          <p14:sldIdLst>
            <p14:sldId id="260"/>
            <p14:sldId id="261"/>
            <p14:sldId id="262"/>
          </p14:sldIdLst>
        </p14:section>
        <p14:section name="Value &amp; limits" id="{ad49d59f-99c2-2ac2-766e-cabbb486c245}">
          <p14:sldIdLst>
            <p14:sldId id="263"/>
            <p14:sldId id="264"/>
          </p14:sldIdLst>
        </p14:section>
        <p14:section name="Feasibility &amp; team" id="{59e7a4f7-5880-f658-d530-ad121263d889}">
          <p14:sldIdLst>
            <p14:sldId id="265"/>
            <p14:sldId id="266"/>
          </p14:sldIdLst>
        </p14:section>
        <p14:section name="Close" id="{336e54e2-fb50-2061-6571-055e44ce15c7}">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IndieQA. Small studios can't afford QA teams, so physics bugs ship. Our bot plays your level on its own, far faster than a human, finds collision bugs and tells you exactly how to reproduce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human QA tester costs about $25 an hour. Physics bugs like clipping or falling out of the map are easy to miss by hand, and they show up on launch day as negative Steam reviews and refunds. Even when found, nobody knows the exact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The agent plays, the engine simulates physics at a fixed 60 FPS without a window, telemetry records every frame, the detector turns anomalies into bug reports with the last 30 inputs, and the dashboard shows it all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will ask where the AI is. It's an autonomous rule-based agent, a two-mode state machine, not ML and not an LLM. One mode seeks boundaries, the other spams inputs at walls. That means no training data, offline, and every bug is 100%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test level with three bugs planted on purpose. In a 10-minute run, simulated in about 2.5 seconds, the bot produced 22 wall clips, 48 infinite falls and 16 softlocks across 65 attempts. Same seed twice gave identical data on all 7,200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dashboard, a local website. The top shows how much gameplay we tested and the cost banner. The map shows where the bot went and red markers at every bug. Click a bug to see the exact 30 inputs that cause it, and export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seed 11 in real time. Watch it clip through the wall at 1.4 seconds, fall forever at 3.4, and get stuck in the pit at 12.4. Then headless: ten minutes of play in about three seconds. Then the dashboard. If the demo fails, this screenshot is the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is launch risk. You find collision bugs before players do, you can re-run the bot on every build because it's so fast, and every bug comes with location and inputs, so a developer reproduces it immediately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know where we fail. One, no narrative or quest logic. Two, custom inertia physics will cause false positives because our thresholds assume a standard platformer. Three, procedural maps with no static geometry. We validate ourselves against the engine's ground truth: wall clip is 22 of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economics: $25 an hour for a human, about four cents an hour of local compute for us, and that hour covers far more gameplay. No training data, no cloud. Built today in Python. Unity and Godot plug-ins are roadmap: stream the same telemetry over WebSocket.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people, each owning one stage of the pipeline: engine and agent, detection, the website, and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Unity and Godot plug-ins, per-game thresholds to address our second failure mode, and testing on real indie levels. IndieQA lets the bot find the bug before your players do.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dieQA Dark">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713232" y="713232"/>
            <a:ext cx="10765231" cy="0"/>
          </a:xfrm>
          <a:prstGeom prst="line">
            <a:avLst/>
          </a:prstGeom>
          <a:noFill/>
          <a:ln w="19050">
            <a:solidFill>
              <a:schemeClr val="bg1"/>
            </a:solidFill>
            <a:prstDash val="solid"/>
          </a:ln>
        </p:spPr>
      </p:sp>
      <p:sp>
        <p:nvSpPr>
          <p:cNvPr id="3" name="Text 1"/>
          <p:cNvSpPr/>
          <p:nvPr>
            <p:ph idx="101" type="body" hasCustomPrompt="1"/>
          </p:nvPr>
        </p:nvSpPr>
        <p:spPr>
          <a:xfrm>
            <a:off x="1472184" y="786384"/>
            <a:ext cx="6583680" cy="292608"/>
          </a:xfrm>
          <a:prstGeom prst="rect">
            <a:avLst/>
          </a:prstGeom>
          <a:noFill/>
          <a:ln/>
        </p:spPr>
        <p:txBody>
          <a:bodyPr wrap="square" rtlCol="0"/>
          <a:lstStyle>
            <a:lvl1pPr indent="0" marL="0">
              <a:buNone/>
              <a:defRPr lang="en-US" sz="1100" spc="100" kern="0" dirty="0">
                <a:solidFill>
                  <a:schemeClr val="accent5"/>
                </a:solidFill>
                <a:latin typeface="Consolas" pitchFamily="34" charset="0"/>
                <a:ea typeface="Consolas" pitchFamily="34" charset="-122"/>
                <a:cs typeface="Consolas" pitchFamily="34" charset="-120"/>
              </a:defRPr>
            </a:lvl1pPr>
          </a:lstStyle>
          <a:p>
            <a:pPr indent="0" marL="0">
              <a:buNone/>
            </a:pPr>
            <a:endParaRPr lang="en-US" sz="1100" dirty="0"/>
          </a:p>
        </p:txBody>
      </p:sp>
      <p:sp>
        <p:nvSpPr>
          <p:cNvPr id="4" name="Text 1"/>
          <p:cNvSpPr/>
          <p:nvPr>
            <p:ph idx="102" type="body" hasCustomPrompt="1"/>
          </p:nvPr>
        </p:nvSpPr>
        <p:spPr>
          <a:xfrm>
            <a:off x="6400800" y="786384"/>
            <a:ext cx="5077663" cy="292608"/>
          </a:xfrm>
          <a:prstGeom prst="rect">
            <a:avLst/>
          </a:prstGeom>
          <a:noFill/>
          <a:ln/>
        </p:spPr>
        <p:txBody>
          <a:bodyPr wrap="square" rtlCol="0"/>
          <a:lstStyle>
            <a:lvl1pPr algn="r" indent="0" marL="0">
              <a:buNone/>
              <a:defRPr lang="en-US" sz="1100" dirty="0">
                <a:solidFill>
                  <a:schemeClr val="accent5"/>
                </a:solidFill>
                <a:latin typeface="Consolas" pitchFamily="34" charset="0"/>
                <a:ea typeface="Consolas" pitchFamily="34" charset="-122"/>
                <a:cs typeface="Consolas" pitchFamily="34" charset="-120"/>
              </a:defRPr>
            </a:lvl1pPr>
          </a:lstStyle>
          <a:p>
            <a:pPr algn="r" indent="0" marL="0">
              <a:buNone/>
            </a:pPr>
            <a:endParaRPr lang="en-US" sz="1100" dirty="0"/>
          </a:p>
        </p:txBody>
      </p:sp>
      <p:sp>
        <p:nvSpPr>
          <p:cNvPr id="25" name="Slide Number Placeholder 0"/>
          <p:cNvSpPr>
            <a:spLocks noGrp="1"/>
          </p:cNvSpPr>
          <p:nvPr>
            <p:ph type="sldNum" sz="quarter" idx="4294967295"/>
          </p:nvPr>
        </p:nvSpPr>
        <p:spPr>
          <a:xfrm>
            <a:off x="713232" y="786384"/>
            <a:ext cx="54864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bg1"/>
                </a:solidFill>
                <a:latin typeface="Consolas"/>
                <a:ea typeface="Consolas"/>
                <a:cs typeface="Consolas"/>
              </a:defRPr>
            </a:lvl1pPr>
          </a:lstStyle>
          <a:p>
            <a:pPr algn="l"/>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dieQA 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713232" y="713232"/>
            <a:ext cx="10765231" cy="0"/>
          </a:xfrm>
          <a:prstGeom prst="line">
            <a:avLst/>
          </a:prstGeom>
          <a:noFill/>
          <a:ln w="19050">
            <a:solidFill>
              <a:schemeClr val="tx1"/>
            </a:solidFill>
            <a:prstDash val="solid"/>
          </a:ln>
        </p:spPr>
      </p:sp>
      <p:sp>
        <p:nvSpPr>
          <p:cNvPr id="3" name="Text 1"/>
          <p:cNvSpPr/>
          <p:nvPr>
            <p:ph idx="101" type="body" hasCustomPrompt="1"/>
          </p:nvPr>
        </p:nvSpPr>
        <p:spPr>
          <a:xfrm>
            <a:off x="1472184" y="786384"/>
            <a:ext cx="6583680" cy="292608"/>
          </a:xfrm>
          <a:prstGeom prst="rect">
            <a:avLst/>
          </a:prstGeom>
          <a:noFill/>
          <a:ln/>
        </p:spPr>
        <p:txBody>
          <a:bodyPr wrap="square" rtlCol="0"/>
          <a:lstStyle>
            <a:lvl1pPr indent="0" marL="0">
              <a:buNone/>
              <a:defRPr lang="en-US" sz="1100" spc="100" kern="0" dirty="0">
                <a:solidFill>
                  <a:schemeClr val="tx2"/>
                </a:solidFill>
                <a:latin typeface="Consolas" pitchFamily="34" charset="0"/>
                <a:ea typeface="Consolas" pitchFamily="34" charset="-122"/>
                <a:cs typeface="Consolas" pitchFamily="34" charset="-120"/>
              </a:defRPr>
            </a:lvl1pPr>
          </a:lstStyle>
          <a:p>
            <a:pPr indent="0" marL="0">
              <a:buNone/>
            </a:pPr>
            <a:endParaRPr lang="en-US" sz="1100" dirty="0"/>
          </a:p>
        </p:txBody>
      </p:sp>
      <p:sp>
        <p:nvSpPr>
          <p:cNvPr id="4" name="Text 1"/>
          <p:cNvSpPr/>
          <p:nvPr>
            <p:ph idx="102" type="body" hasCustomPrompt="1"/>
          </p:nvPr>
        </p:nvSpPr>
        <p:spPr>
          <a:xfrm>
            <a:off x="6400800" y="786384"/>
            <a:ext cx="5077663" cy="292608"/>
          </a:xfrm>
          <a:prstGeom prst="rect">
            <a:avLst/>
          </a:prstGeom>
          <a:noFill/>
          <a:ln/>
        </p:spPr>
        <p:txBody>
          <a:bodyPr wrap="square" rtlCol="0"/>
          <a:lstStyle>
            <a:lvl1pPr algn="r" indent="0" marL="0">
              <a:buNone/>
              <a:defRPr lang="en-US" sz="1100" dirty="0">
                <a:solidFill>
                  <a:schemeClr val="tx2"/>
                </a:solidFill>
                <a:latin typeface="Consolas" pitchFamily="34" charset="0"/>
                <a:ea typeface="Consolas" pitchFamily="34" charset="-122"/>
                <a:cs typeface="Consolas" pitchFamily="34" charset="-120"/>
              </a:defRPr>
            </a:lvl1pPr>
          </a:lstStyle>
          <a:p>
            <a:pPr algn="r" indent="0" marL="0">
              <a:buNone/>
            </a:pPr>
            <a:endParaRPr lang="en-US" sz="1100" dirty="0"/>
          </a:p>
        </p:txBody>
      </p:sp>
      <p:sp>
        <p:nvSpPr>
          <p:cNvPr id="5" name="Text 1"/>
          <p:cNvSpPr/>
          <p:nvPr>
            <p:ph idx="103" type="title" hasCustomPrompt="1"/>
          </p:nvPr>
        </p:nvSpPr>
        <p:spPr>
          <a:xfrm>
            <a:off x="713232" y="1325880"/>
            <a:ext cx="10765231" cy="1280160"/>
          </a:xfrm>
          <a:prstGeom prst="rect">
            <a:avLst/>
          </a:prstGeom>
          <a:noFill/>
          <a:ln/>
        </p:spPr>
        <p:txBody>
          <a:bodyPr wrap="square" rtlCol="0"/>
          <a:lstStyle>
            <a:lvl1pPr algn="l" indent="0" marL="0">
              <a:lnSpc>
                <a:spcPct val="92000"/>
              </a:lnSpc>
              <a:buNone/>
              <a:defRPr lang="en-US" sz="4400" b="1" dirty="0">
                <a:solidFill>
                  <a:schemeClr val="tx1"/>
                </a:solidFill>
              </a:defRPr>
            </a:lvl1pPr>
          </a:lstStyle>
          <a:p>
            <a:pPr algn="l" indent="0" marL="0">
              <a:lnSpc>
                <a:spcPct val="92000"/>
              </a:lnSpc>
              <a:buNone/>
            </a:pPr>
            <a:endParaRPr lang="en-US" sz="4400" dirty="0"/>
          </a:p>
        </p:txBody>
      </p:sp>
      <p:sp>
        <p:nvSpPr>
          <p:cNvPr id="25" name="Slide Number Placeholder 0"/>
          <p:cNvSpPr>
            <a:spLocks noGrp="1"/>
          </p:cNvSpPr>
          <p:nvPr>
            <p:ph type="sldNum" sz="quarter" idx="4294967295"/>
          </p:nvPr>
        </p:nvSpPr>
        <p:spPr>
          <a:xfrm>
            <a:off x="713232" y="786384"/>
            <a:ext cx="54864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1"/>
                </a:solidFill>
                <a:latin typeface="Consolas"/>
                <a:ea typeface="Consolas"/>
                <a:cs typeface="Consolas"/>
              </a:defRPr>
            </a:lvl1pPr>
          </a:lstStyle>
          <a:p>
            <a:pPr algn="l"/>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dieQA Content No Title">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713232" y="713232"/>
            <a:ext cx="10765231" cy="0"/>
          </a:xfrm>
          <a:prstGeom prst="line">
            <a:avLst/>
          </a:prstGeom>
          <a:noFill/>
          <a:ln w="19050">
            <a:solidFill>
              <a:schemeClr val="tx1"/>
            </a:solidFill>
            <a:prstDash val="solid"/>
          </a:ln>
        </p:spPr>
      </p:sp>
      <p:sp>
        <p:nvSpPr>
          <p:cNvPr id="3" name="Text 1"/>
          <p:cNvSpPr/>
          <p:nvPr>
            <p:ph idx="101" type="body" hasCustomPrompt="1"/>
          </p:nvPr>
        </p:nvSpPr>
        <p:spPr>
          <a:xfrm>
            <a:off x="1472184" y="786384"/>
            <a:ext cx="6583680" cy="292608"/>
          </a:xfrm>
          <a:prstGeom prst="rect">
            <a:avLst/>
          </a:prstGeom>
          <a:noFill/>
          <a:ln/>
        </p:spPr>
        <p:txBody>
          <a:bodyPr wrap="square" rtlCol="0"/>
          <a:lstStyle>
            <a:lvl1pPr indent="0" marL="0">
              <a:buNone/>
              <a:defRPr lang="en-US" sz="1100" spc="100" kern="0" dirty="0">
                <a:solidFill>
                  <a:schemeClr val="tx2"/>
                </a:solidFill>
                <a:latin typeface="Consolas" pitchFamily="34" charset="0"/>
                <a:ea typeface="Consolas" pitchFamily="34" charset="-122"/>
                <a:cs typeface="Consolas" pitchFamily="34" charset="-120"/>
              </a:defRPr>
            </a:lvl1pPr>
          </a:lstStyle>
          <a:p>
            <a:pPr indent="0" marL="0">
              <a:buNone/>
            </a:pPr>
            <a:endParaRPr lang="en-US" sz="1100" dirty="0"/>
          </a:p>
        </p:txBody>
      </p:sp>
      <p:sp>
        <p:nvSpPr>
          <p:cNvPr id="4" name="Text 1"/>
          <p:cNvSpPr/>
          <p:nvPr>
            <p:ph idx="102" type="body" hasCustomPrompt="1"/>
          </p:nvPr>
        </p:nvSpPr>
        <p:spPr>
          <a:xfrm>
            <a:off x="6400800" y="786384"/>
            <a:ext cx="5077663" cy="292608"/>
          </a:xfrm>
          <a:prstGeom prst="rect">
            <a:avLst/>
          </a:prstGeom>
          <a:noFill/>
          <a:ln/>
        </p:spPr>
        <p:txBody>
          <a:bodyPr wrap="square" rtlCol="0"/>
          <a:lstStyle>
            <a:lvl1pPr algn="r" indent="0" marL="0">
              <a:buNone/>
              <a:defRPr lang="en-US" sz="1100" dirty="0">
                <a:solidFill>
                  <a:schemeClr val="tx2"/>
                </a:solidFill>
                <a:latin typeface="Consolas" pitchFamily="34" charset="0"/>
                <a:ea typeface="Consolas" pitchFamily="34" charset="-122"/>
                <a:cs typeface="Consolas" pitchFamily="34" charset="-120"/>
              </a:defRPr>
            </a:lvl1pPr>
          </a:lstStyle>
          <a:p>
            <a:pPr algn="r" indent="0" marL="0">
              <a:buNone/>
            </a:pPr>
            <a:endParaRPr lang="en-US" sz="1100" dirty="0"/>
          </a:p>
        </p:txBody>
      </p:sp>
      <p:sp>
        <p:nvSpPr>
          <p:cNvPr id="25" name="Slide Number Placeholder 0"/>
          <p:cNvSpPr>
            <a:spLocks noGrp="1"/>
          </p:cNvSpPr>
          <p:nvPr>
            <p:ph type="sldNum" sz="quarter" idx="4294967295"/>
          </p:nvPr>
        </p:nvSpPr>
        <p:spPr>
          <a:xfrm>
            <a:off x="713232" y="786384"/>
            <a:ext cx="54864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1"/>
                </a:solidFill>
                <a:latin typeface="Consolas"/>
                <a:ea typeface="Consolas"/>
                <a:cs typeface="Consolas"/>
              </a:defRPr>
            </a:lvl1pPr>
          </a:lstStyle>
          <a:p>
            <a:pPr algn="l"/>
            <a:fld id="{F7021451-1387-4CA6-816F-3879F97B5CBC}" type="slidenum">
              <a:rPr b="1"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13232" y="786384"/>
            <a:ext cx="54864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bg1"/>
                </a:solidFill>
                <a:latin typeface="Consolas"/>
                <a:ea typeface="Consolas"/>
                <a:cs typeface="Consolas"/>
              </a:defRPr>
            </a:lvl1pPr>
          </a:lstStyle>
          <a:p>
            <a:pPr algn="l"/>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1472184" y="786384"/>
            <a:ext cx="6583680" cy="292608"/>
          </a:xfrm>
          <a:prstGeom prst="rect">
            <a:avLst/>
          </a:prstGeom>
          <a:noFill/>
          <a:ln/>
        </p:spPr>
        <p:txBody>
          <a:bodyPr wrap="square" lIns="0" tIns="0" rIns="0" bIns="0" rtlCol="0" anchor="ctr"/>
          <a:lstStyle/>
          <a:p>
            <a:pPr indent="0" marL="0">
              <a:buNone/>
            </a:pPr>
            <a:r>
              <a:rPr lang="en-US" sz="1100" spc="100" kern="0" dirty="0">
                <a:solidFill>
                  <a:schemeClr val="accent5"/>
                </a:solidFill>
                <a:latin typeface="Consolas" pitchFamily="34" charset="0"/>
                <a:ea typeface="Consolas" pitchFamily="34" charset="-122"/>
                <a:cs typeface="Consolas" pitchFamily="34" charset="-120"/>
              </a:rPr>
              <a:t>NEUROBRIDGE GAME SUMMIT 2026 · BAKU</a:t>
            </a:r>
            <a:endParaRPr lang="en-US" sz="1100" dirty="0"/>
          </a:p>
        </p:txBody>
      </p:sp>
      <p:sp>
        <p:nvSpPr>
          <p:cNvPr id="3" name="Text 1"/>
          <p:cNvSpPr/>
          <p:nvPr>
            <p:ph idx="102" type="body" hasCustomPrompt="1"/>
          </p:nvPr>
        </p:nvSpPr>
        <p:spPr>
          <a:xfrm>
            <a:off x="6400800" y="786384"/>
            <a:ext cx="5077663" cy="292608"/>
          </a:xfrm>
          <a:prstGeom prst="rect">
            <a:avLst/>
          </a:prstGeom>
          <a:noFill/>
          <a:ln/>
        </p:spPr>
        <p:txBody>
          <a:bodyPr wrap="square" lIns="0" tIns="0" rIns="0" bIns="0" rtlCol="0" anchor="ctr"/>
          <a:lstStyle/>
          <a:p>
            <a:pPr algn="r" indent="0" marL="0">
              <a:buNone/>
            </a:pPr>
            <a:r>
              <a:rPr lang="en-US" sz="1100" dirty="0">
                <a:solidFill>
                  <a:schemeClr val="accent5"/>
                </a:solidFill>
                <a:latin typeface="Consolas" pitchFamily="34" charset="0"/>
                <a:ea typeface="Consolas" pitchFamily="34" charset="-122"/>
                <a:cs typeface="Consolas" pitchFamily="34" charset="-120"/>
              </a:rPr>
              <a:t>Hackathon pitch</a:t>
            </a:r>
            <a:endParaRPr lang="en-US" sz="1100" dirty="0"/>
          </a:p>
        </p:txBody>
      </p:sp>
      <p:sp>
        <p:nvSpPr>
          <p:cNvPr id="5" name="Wordmark"/>
          <p:cNvSpPr txBox="1"/>
          <p:nvPr/>
        </p:nvSpPr>
        <p:spPr>
          <a:xfrm>
            <a:off x="640080" y="1417320"/>
            <a:ext cx="9144000" cy="2103120"/>
          </a:xfrm>
          <a:prstGeom prst="rect">
            <a:avLst/>
          </a:prstGeom>
          <a:noFill/>
          <a:ln/>
        </p:spPr>
        <p:txBody>
          <a:bodyPr wrap="square" lIns="0" tIns="0" rIns="0" bIns="0" rtlCol="0" anchor="t"/>
          <a:lstStyle/>
          <a:p>
            <a:pPr indent="0" marL="0">
              <a:buNone/>
            </a:pPr>
            <a:r>
              <a:rPr lang="en-US" sz="15000" b="1" spc="-600" kern="0" dirty="0">
                <a:solidFill>
                  <a:schemeClr val="bg1"/>
                </a:solidFill>
              </a:rPr>
              <a:t>Indie</a:t>
            </a:r>
            <a:pPr indent="0" marL="0">
              <a:buNone/>
            </a:pPr>
            <a:r>
              <a:rPr lang="en-US" sz="15000" b="1" spc="-600" kern="0" dirty="0">
                <a:solidFill>
                  <a:schemeClr val="accent1"/>
                </a:solidFill>
              </a:rPr>
              <a:t>QA</a:t>
            </a:r>
            <a:endParaRPr lang="en-US" sz="15000" dirty="0"/>
          </a:p>
        </p:txBody>
      </p:sp>
      <p:sp>
        <p:nvSpPr>
          <p:cNvPr id="6" name="One-liner"/>
          <p:cNvSpPr txBox="1"/>
          <p:nvPr/>
        </p:nvSpPr>
        <p:spPr>
          <a:xfrm>
            <a:off x="713232" y="3794760"/>
            <a:ext cx="8595360" cy="1600200"/>
          </a:xfrm>
          <a:prstGeom prst="rect">
            <a:avLst/>
          </a:prstGeom>
          <a:noFill/>
          <a:ln/>
        </p:spPr>
        <p:txBody>
          <a:bodyPr wrap="square" lIns="0" tIns="0" rIns="0" bIns="0" rtlCol="0" anchor="t"/>
          <a:lstStyle/>
          <a:p>
            <a:pPr indent="0" marL="0">
              <a:lnSpc>
                <a:spcPct val="110000"/>
              </a:lnSpc>
              <a:buNone/>
            </a:pPr>
            <a:r>
              <a:rPr lang="en-US" sz="2200" dirty="0">
                <a:solidFill>
                  <a:schemeClr val="bg1"/>
                </a:solidFill>
              </a:rPr>
              <a:t>An autonomous QA bot for indie studios. It plays your level ~240× faster than real time, hunts physics and collision bugs, and hands you every bug with where it happened and the exact buttons to reproduce it.</a:t>
            </a:r>
            <a:endParaRPr lang="en-US" sz="2200" dirty="0"/>
          </a:p>
        </p:txBody>
      </p:sp>
      <p:sp>
        <p:nvSpPr>
          <p:cNvPr id="7" name="Shape 4"/>
          <p:cNvSpPr/>
          <p:nvPr/>
        </p:nvSpPr>
        <p:spPr>
          <a:xfrm>
            <a:off x="713232" y="5824728"/>
            <a:ext cx="10765231" cy="0"/>
          </a:xfrm>
          <a:prstGeom prst="line">
            <a:avLst/>
          </a:prstGeom>
          <a:noFill/>
          <a:ln w="9525">
            <a:solidFill>
              <a:schemeClr val="accent6"/>
            </a:solidFill>
            <a:prstDash val="solid"/>
          </a:ln>
        </p:spPr>
      </p:sp>
      <p:sp>
        <p:nvSpPr>
          <p:cNvPr id="8" name="Text 5"/>
          <p:cNvSpPr txBox="1"/>
          <p:nvPr/>
        </p:nvSpPr>
        <p:spPr>
          <a:xfrm>
            <a:off x="713232" y="5925312"/>
            <a:ext cx="5943600" cy="274320"/>
          </a:xfrm>
          <a:prstGeom prst="rect">
            <a:avLst/>
          </a:prstGeom>
          <a:noFill/>
          <a:ln/>
        </p:spPr>
        <p:txBody>
          <a:bodyPr wrap="square" lIns="0" tIns="0" rIns="0" bIns="0" rtlCol="0" anchor="t"/>
          <a:lstStyle/>
          <a:p>
            <a:pPr indent="0" marL="0">
              <a:buNone/>
            </a:pPr>
            <a:r>
              <a:rPr lang="en-US" sz="1000" dirty="0">
                <a:solidFill>
                  <a:schemeClr val="accent5"/>
                </a:solidFill>
                <a:latin typeface="Consolas" pitchFamily="34" charset="0"/>
                <a:ea typeface="Consolas" pitchFamily="34" charset="-122"/>
                <a:cs typeface="Consolas" pitchFamily="34" charset="-120"/>
              </a:rPr>
              <a:t>Team of 4</a:t>
            </a:r>
            <a:endParaRPr lang="en-US" sz="1000" dirty="0"/>
          </a:p>
        </p:txBody>
      </p:sp>
      <p:sp>
        <p:nvSpPr>
          <p:cNvPr id="9" name="Text 6"/>
          <p:cNvSpPr txBox="1"/>
          <p:nvPr/>
        </p:nvSpPr>
        <p:spPr>
          <a:xfrm>
            <a:off x="6449263" y="5925312"/>
            <a:ext cx="5029200" cy="274320"/>
          </a:xfrm>
          <a:prstGeom prst="rect">
            <a:avLst/>
          </a:prstGeom>
          <a:noFill/>
          <a:ln/>
        </p:spPr>
        <p:txBody>
          <a:bodyPr wrap="square" lIns="0" tIns="0" rIns="0" bIns="0" rtlCol="0" anchor="t"/>
          <a:lstStyle/>
          <a:p>
            <a:pPr algn="r" indent="0" marL="0">
              <a:buNone/>
            </a:pPr>
            <a:r>
              <a:rPr lang="en-US" sz="1000" dirty="0">
                <a:solidFill>
                  <a:schemeClr val="accent5"/>
                </a:solidFill>
                <a:latin typeface="Consolas" pitchFamily="34" charset="0"/>
                <a:ea typeface="Consolas" pitchFamily="34" charset="-122"/>
                <a:cs typeface="Consolas" pitchFamily="34" charset="-120"/>
              </a:rPr>
              <a:t>github.com/GasimovDev/indieQA_bot</a:t>
            </a:r>
            <a:endParaRPr lang="en-US" sz="1000" dirty="0"/>
          </a:p>
        </p:txBody>
      </p:sp>
      <p:sp>
        <p:nvSpPr>
          <p:cNvPr id="25" name="Slide Number Placeholder 0"/>
          <p:cNvSpPr>
            <a:spLocks noGrp="1"/>
          </p:cNvSpPr>
          <p:nvPr>
            <p:ph type="sldNum" sz="quarter" idx="4294967295"/>
          </p:nvPr>
        </p:nvSpPr>
        <p:spPr>
          <a:xfrm>
            <a:off x="713232" y="786384"/>
            <a:ext cx="54864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bg1"/>
                </a:solidFill>
                <a:latin typeface="Consolas"/>
                <a:ea typeface="Consolas"/>
                <a:cs typeface="Consolas"/>
              </a:defRPr>
            </a:lvl1pPr>
          </a:lstStyle>
          <a:p>
            <a:pPr algn="l"/>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1472184" y="786384"/>
            <a:ext cx="6583680" cy="292608"/>
          </a:xfrm>
          <a:prstGeom prst="rect">
            <a:avLst/>
          </a:prstGeom>
          <a:noFill/>
          <a:ln/>
        </p:spPr>
        <p:txBody>
          <a:bodyPr wrap="square" lIns="0" tIns="0" rIns="0" bIns="0" rtlCol="0" anchor="ctr"/>
          <a:lstStyle/>
          <a:p>
            <a:pPr indent="0" marL="0">
              <a:buNone/>
            </a:pPr>
            <a:r>
              <a:rPr lang="en-US" sz="1100" spc="100" kern="0" dirty="0">
                <a:solidFill>
                  <a:schemeClr val="tx2"/>
                </a:solidFill>
                <a:latin typeface="Consolas" pitchFamily="34" charset="0"/>
                <a:ea typeface="Consolas" pitchFamily="34" charset="-122"/>
                <a:cs typeface="Consolas" pitchFamily="34" charset="-120"/>
              </a:rPr>
              <a:t>PROBLEM</a:t>
            </a:r>
            <a:endParaRPr lang="en-US" sz="1100" dirty="0"/>
          </a:p>
        </p:txBody>
      </p:sp>
      <p:sp>
        <p:nvSpPr>
          <p:cNvPr id="3" name="Text 1"/>
          <p:cNvSpPr/>
          <p:nvPr>
            <p:ph idx="102" type="body" hasCustomPrompt="1"/>
          </p:nvPr>
        </p:nvSpPr>
        <p:spPr>
          <a:xfrm>
            <a:off x="6400800" y="786384"/>
            <a:ext cx="5077663" cy="292608"/>
          </a:xfrm>
          <a:prstGeom prst="rect">
            <a:avLst/>
          </a:prstGeom>
          <a:noFill/>
          <a:ln/>
        </p:spPr>
        <p:txBody>
          <a:bodyPr wrap="square" lIns="0" tIns="0" rIns="0" bIns="0" rtlCol="0" anchor="ctr"/>
          <a:lstStyle/>
          <a:p>
            <a:pPr algn="r" indent="0" marL="0">
              <a:buNone/>
            </a:pPr>
            <a:r>
              <a:rPr lang="en-US" sz="1100" dirty="0">
                <a:solidFill>
                  <a:schemeClr val="tx2"/>
                </a:solidFill>
                <a:latin typeface="Consolas" pitchFamily="34" charset="0"/>
                <a:ea typeface="Consolas" pitchFamily="34" charset="-122"/>
                <a:cs typeface="Consolas" pitchFamily="34" charset="-120"/>
              </a:rPr>
              <a:t>User value</a:t>
            </a:r>
            <a:endParaRPr lang="en-US" sz="1100" dirty="0"/>
          </a:p>
        </p:txBody>
      </p:sp>
      <p:sp>
        <p:nvSpPr>
          <p:cNvPr id="5" name="Text 1"/>
          <p:cNvSpPr/>
          <p:nvPr>
            <p:ph idx="103" type="title" hasCustomPrompt="1"/>
          </p:nvPr>
        </p:nvSpPr>
        <p:spPr>
          <a:xfrm>
            <a:off x="713232" y="1325880"/>
            <a:ext cx="10765231" cy="1280160"/>
          </a:xfrm>
          <a:prstGeom prst="rect">
            <a:avLst/>
          </a:prstGeom>
          <a:noFill/>
          <a:ln/>
        </p:spPr>
        <p:txBody>
          <a:bodyPr wrap="square" lIns="0" tIns="0" rIns="0" bIns="0" rtlCol="0" anchor="t"/>
          <a:lstStyle/>
          <a:p>
            <a:pPr algn="l" indent="0" marL="0">
              <a:lnSpc>
                <a:spcPct val="92000"/>
              </a:lnSpc>
              <a:buNone/>
            </a:pPr>
            <a:r>
              <a:rPr lang="en-US" sz="4400" b="1" dirty="0">
                <a:solidFill>
                  <a:schemeClr val="tx1"/>
                </a:solidFill>
              </a:rPr>
              <a:t>Collision bugs ship. Players find them on launch day</a:t>
            </a:r>
            <a:endParaRPr lang="en-US" sz="4400" dirty="0"/>
          </a:p>
        </p:txBody>
      </p:sp>
      <p:sp>
        <p:nvSpPr>
          <p:cNvPr id="6" name="Shape 3"/>
          <p:cNvSpPr/>
          <p:nvPr/>
        </p:nvSpPr>
        <p:spPr>
          <a:xfrm>
            <a:off x="713232" y="2926080"/>
            <a:ext cx="6766560" cy="0"/>
          </a:xfrm>
          <a:prstGeom prst="line">
            <a:avLst/>
          </a:prstGeom>
          <a:noFill/>
          <a:ln w="9525">
            <a:solidFill>
              <a:schemeClr val="accent2"/>
            </a:solidFill>
            <a:prstDash val="solid"/>
          </a:ln>
        </p:spPr>
      </p:sp>
      <p:sp>
        <p:nvSpPr>
          <p:cNvPr id="7" name="Problem 1"/>
          <p:cNvSpPr txBox="1"/>
          <p:nvPr/>
        </p:nvSpPr>
        <p:spPr>
          <a:xfrm>
            <a:off x="713232" y="2971800"/>
            <a:ext cx="6766560" cy="621792"/>
          </a:xfrm>
          <a:prstGeom prst="rect">
            <a:avLst/>
          </a:prstGeom>
          <a:noFill/>
          <a:ln/>
        </p:spPr>
        <p:txBody>
          <a:bodyPr wrap="square" lIns="0" tIns="0" rIns="0" bIns="0" rtlCol="0" anchor="ctr"/>
          <a:lstStyle/>
          <a:p>
            <a:pPr indent="0" marL="0">
              <a:buNone/>
            </a:pPr>
            <a:r>
              <a:rPr lang="en-US" sz="1600" dirty="0">
                <a:solidFill>
                  <a:schemeClr val="tx1"/>
                </a:solidFill>
              </a:rPr>
              <a:t>Indie studios can't afford a QA team.</a:t>
            </a:r>
            <a:endParaRPr lang="en-US" sz="1600" dirty="0"/>
          </a:p>
        </p:txBody>
      </p:sp>
      <p:sp>
        <p:nvSpPr>
          <p:cNvPr id="8" name="Shape 5"/>
          <p:cNvSpPr/>
          <p:nvPr/>
        </p:nvSpPr>
        <p:spPr>
          <a:xfrm>
            <a:off x="713232" y="3639312"/>
            <a:ext cx="6766560" cy="0"/>
          </a:xfrm>
          <a:prstGeom prst="line">
            <a:avLst/>
          </a:prstGeom>
          <a:noFill/>
          <a:ln w="9525">
            <a:solidFill>
              <a:schemeClr val="accent2"/>
            </a:solidFill>
            <a:prstDash val="solid"/>
          </a:ln>
        </p:spPr>
      </p:sp>
      <p:sp>
        <p:nvSpPr>
          <p:cNvPr id="9" name="Problem 2"/>
          <p:cNvSpPr txBox="1"/>
          <p:nvPr/>
        </p:nvSpPr>
        <p:spPr>
          <a:xfrm>
            <a:off x="713232" y="3685032"/>
            <a:ext cx="6766560" cy="621792"/>
          </a:xfrm>
          <a:prstGeom prst="rect">
            <a:avLst/>
          </a:prstGeom>
          <a:noFill/>
          <a:ln/>
        </p:spPr>
        <p:txBody>
          <a:bodyPr wrap="square" lIns="0" tIns="0" rIns="0" bIns="0" rtlCol="0" anchor="ctr"/>
          <a:lstStyle/>
          <a:p>
            <a:pPr indent="0" marL="0">
              <a:buNone/>
            </a:pPr>
            <a:r>
              <a:rPr lang="en-US" sz="1600" dirty="0">
                <a:solidFill>
                  <a:schemeClr val="tx1"/>
                </a:solidFill>
              </a:rPr>
              <a:t>Walking through walls, falling out of the map, getting stuck: easy to miss by hand.</a:t>
            </a:r>
            <a:endParaRPr lang="en-US" sz="1600" dirty="0"/>
          </a:p>
        </p:txBody>
      </p:sp>
      <p:sp>
        <p:nvSpPr>
          <p:cNvPr id="10" name="Shape 7"/>
          <p:cNvSpPr/>
          <p:nvPr/>
        </p:nvSpPr>
        <p:spPr>
          <a:xfrm>
            <a:off x="713232" y="4352544"/>
            <a:ext cx="6766560" cy="0"/>
          </a:xfrm>
          <a:prstGeom prst="line">
            <a:avLst/>
          </a:prstGeom>
          <a:noFill/>
          <a:ln w="9525">
            <a:solidFill>
              <a:schemeClr val="accent2"/>
            </a:solidFill>
            <a:prstDash val="solid"/>
          </a:ln>
        </p:spPr>
      </p:sp>
      <p:sp>
        <p:nvSpPr>
          <p:cNvPr id="11" name="Problem 3"/>
          <p:cNvSpPr txBox="1"/>
          <p:nvPr/>
        </p:nvSpPr>
        <p:spPr>
          <a:xfrm>
            <a:off x="713232" y="4398264"/>
            <a:ext cx="6766560" cy="621792"/>
          </a:xfrm>
          <a:prstGeom prst="rect">
            <a:avLst/>
          </a:prstGeom>
          <a:noFill/>
          <a:ln/>
        </p:spPr>
        <p:txBody>
          <a:bodyPr wrap="square" lIns="0" tIns="0" rIns="0" bIns="0" rtlCol="0" anchor="ctr"/>
          <a:lstStyle/>
          <a:p>
            <a:pPr indent="0" marL="0">
              <a:buNone/>
            </a:pPr>
            <a:r>
              <a:rPr lang="en-US" sz="1600" dirty="0">
                <a:solidFill>
                  <a:schemeClr val="tx1"/>
                </a:solidFill>
              </a:rPr>
              <a:t>They surface as negative Steam reviews and refund requests.</a:t>
            </a:r>
            <a:endParaRPr lang="en-US" sz="1600" dirty="0"/>
          </a:p>
        </p:txBody>
      </p:sp>
      <p:sp>
        <p:nvSpPr>
          <p:cNvPr id="12" name="Shape 9"/>
          <p:cNvSpPr/>
          <p:nvPr/>
        </p:nvSpPr>
        <p:spPr>
          <a:xfrm>
            <a:off x="713232" y="5065776"/>
            <a:ext cx="6766560" cy="0"/>
          </a:xfrm>
          <a:prstGeom prst="line">
            <a:avLst/>
          </a:prstGeom>
          <a:noFill/>
          <a:ln w="9525">
            <a:solidFill>
              <a:schemeClr val="accent2"/>
            </a:solidFill>
            <a:prstDash val="solid"/>
          </a:ln>
        </p:spPr>
      </p:sp>
      <p:sp>
        <p:nvSpPr>
          <p:cNvPr id="13" name="Problem 4"/>
          <p:cNvSpPr txBox="1"/>
          <p:nvPr/>
        </p:nvSpPr>
        <p:spPr>
          <a:xfrm>
            <a:off x="713232" y="5111496"/>
            <a:ext cx="6766560" cy="621792"/>
          </a:xfrm>
          <a:prstGeom prst="rect">
            <a:avLst/>
          </a:prstGeom>
          <a:noFill/>
          <a:ln/>
        </p:spPr>
        <p:txBody>
          <a:bodyPr wrap="square" lIns="0" tIns="0" rIns="0" bIns="0" rtlCol="0" anchor="ctr"/>
          <a:lstStyle/>
          <a:p>
            <a:pPr indent="0" marL="0">
              <a:buNone/>
            </a:pPr>
            <a:r>
              <a:rPr lang="en-US" sz="1600" dirty="0">
                <a:solidFill>
                  <a:schemeClr val="tx1"/>
                </a:solidFill>
              </a:rPr>
              <a:t>Testers often can't say which inputs caused the bug, so reproducing it is slow.</a:t>
            </a:r>
            <a:endParaRPr lang="en-US" sz="1600" dirty="0"/>
          </a:p>
        </p:txBody>
      </p:sp>
      <p:sp>
        <p:nvSpPr>
          <p:cNvPr id="14" name="Shape 11"/>
          <p:cNvSpPr/>
          <p:nvPr/>
        </p:nvSpPr>
        <p:spPr>
          <a:xfrm>
            <a:off x="713232" y="5779008"/>
            <a:ext cx="6766560" cy="0"/>
          </a:xfrm>
          <a:prstGeom prst="line">
            <a:avLst/>
          </a:prstGeom>
          <a:noFill/>
          <a:ln w="9525">
            <a:solidFill>
              <a:schemeClr val="accent2"/>
            </a:solidFill>
            <a:prstDash val="solid"/>
          </a:ln>
        </p:spPr>
      </p:sp>
      <p:sp>
        <p:nvSpPr>
          <p:cNvPr id="15" name="Text 12"/>
          <p:cNvSpPr txBox="1"/>
          <p:nvPr/>
        </p:nvSpPr>
        <p:spPr>
          <a:xfrm>
            <a:off x="8138160" y="3703320"/>
            <a:ext cx="3346704" cy="256032"/>
          </a:xfrm>
          <a:prstGeom prst="rect">
            <a:avLst/>
          </a:prstGeom>
          <a:noFill/>
          <a:ln/>
        </p:spPr>
        <p:txBody>
          <a:bodyPr wrap="square" lIns="0" tIns="0" rIns="0" bIns="0" rtlCol="0" anchor="t"/>
          <a:lstStyle/>
          <a:p>
            <a:pPr indent="0" marL="0">
              <a:buNone/>
            </a:pPr>
            <a:r>
              <a:rPr lang="en-US" sz="1000" spc="200" kern="0" dirty="0">
                <a:solidFill>
                  <a:schemeClr val="tx2"/>
                </a:solidFill>
                <a:latin typeface="Consolas" pitchFamily="34" charset="0"/>
                <a:ea typeface="Consolas" pitchFamily="34" charset="-122"/>
                <a:cs typeface="Consolas" pitchFamily="34" charset="-120"/>
              </a:rPr>
              <a:t>HUMAN QA TESTER</a:t>
            </a:r>
            <a:endParaRPr lang="en-US" sz="1000" dirty="0"/>
          </a:p>
        </p:txBody>
      </p:sp>
      <p:sp>
        <p:nvSpPr>
          <p:cNvPr id="16" name="Cost stat"/>
          <p:cNvSpPr txBox="1"/>
          <p:nvPr/>
        </p:nvSpPr>
        <p:spPr>
          <a:xfrm>
            <a:off x="8092440" y="3931920"/>
            <a:ext cx="3566160" cy="1417320"/>
          </a:xfrm>
          <a:prstGeom prst="rect">
            <a:avLst/>
          </a:prstGeom>
          <a:noFill/>
          <a:ln/>
        </p:spPr>
        <p:txBody>
          <a:bodyPr wrap="square" lIns="0" tIns="0" rIns="0" bIns="0" rtlCol="0" anchor="b"/>
          <a:lstStyle/>
          <a:p>
            <a:pPr indent="0" marL="0">
              <a:buNone/>
            </a:pPr>
            <a:r>
              <a:rPr lang="en-US" sz="10000" b="1" spc="-300" kern="0" dirty="0">
                <a:solidFill>
                  <a:schemeClr val="tx1"/>
                </a:solidFill>
              </a:rPr>
              <a:t>$25</a:t>
            </a:r>
            <a:pPr indent="0" marL="0">
              <a:buNone/>
            </a:pPr>
            <a:r>
              <a:rPr lang="en-US" sz="4000" b="1" dirty="0">
                <a:solidFill>
                  <a:schemeClr val="tx1"/>
                </a:solidFill>
              </a:rPr>
              <a:t> /h</a:t>
            </a:r>
            <a:endParaRPr lang="en-US" sz="10000" dirty="0"/>
          </a:p>
        </p:txBody>
      </p:sp>
      <p:sp>
        <p:nvSpPr>
          <p:cNvPr id="17" name="Text 14"/>
          <p:cNvSpPr txBox="1"/>
          <p:nvPr/>
        </p:nvSpPr>
        <p:spPr>
          <a:xfrm>
            <a:off x="8138160" y="5486400"/>
            <a:ext cx="3346704" cy="274320"/>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and still misses physics edge cases</a:t>
            </a:r>
            <a:endParaRPr lang="en-US" sz="1100" dirty="0"/>
          </a:p>
        </p:txBody>
      </p:sp>
      <p:sp>
        <p:nvSpPr>
          <p:cNvPr id="25" name="Slide Number Placeholder 0"/>
          <p:cNvSpPr>
            <a:spLocks noGrp="1"/>
          </p:cNvSpPr>
          <p:nvPr>
            <p:ph type="sldNum" sz="quarter" idx="4294967295"/>
          </p:nvPr>
        </p:nvSpPr>
        <p:spPr>
          <a:xfrm>
            <a:off x="713232" y="786384"/>
            <a:ext cx="54864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1"/>
                </a:solidFill>
                <a:latin typeface="Consolas"/>
                <a:ea typeface="Consolas"/>
                <a:cs typeface="Consolas"/>
              </a:defRPr>
            </a:lvl1pPr>
          </a:lstStyle>
          <a:p>
            <a:pPr algn="l"/>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1472184" y="786384"/>
            <a:ext cx="6583680" cy="292608"/>
          </a:xfrm>
          <a:prstGeom prst="rect">
            <a:avLst/>
          </a:prstGeom>
          <a:noFill/>
          <a:ln/>
        </p:spPr>
        <p:txBody>
          <a:bodyPr wrap="square" lIns="0" tIns="0" rIns="0" bIns="0" rtlCol="0" anchor="ctr"/>
          <a:lstStyle/>
          <a:p>
            <a:pPr indent="0" marL="0">
              <a:buNone/>
            </a:pPr>
            <a:r>
              <a:rPr lang="en-US" sz="1100" spc="100" kern="0" dirty="0">
                <a:solidFill>
                  <a:schemeClr val="tx2"/>
                </a:solidFill>
                <a:latin typeface="Consolas" pitchFamily="34" charset="0"/>
                <a:ea typeface="Consolas" pitchFamily="34" charset="-122"/>
                <a:cs typeface="Consolas" pitchFamily="34" charset="-120"/>
              </a:rPr>
              <a:t>SOLUTION · HOW IT WORKS</a:t>
            </a:r>
            <a:endParaRPr lang="en-US" sz="1100" dirty="0"/>
          </a:p>
        </p:txBody>
      </p:sp>
      <p:sp>
        <p:nvSpPr>
          <p:cNvPr id="3" name="Text 1"/>
          <p:cNvSpPr/>
          <p:nvPr>
            <p:ph idx="102" type="body" hasCustomPrompt="1"/>
          </p:nvPr>
        </p:nvSpPr>
        <p:spPr>
          <a:xfrm>
            <a:off x="6400800" y="786384"/>
            <a:ext cx="5077663" cy="292608"/>
          </a:xfrm>
          <a:prstGeom prst="rect">
            <a:avLst/>
          </a:prstGeom>
          <a:noFill/>
          <a:ln/>
        </p:spPr>
        <p:txBody>
          <a:bodyPr wrap="square" lIns="0" tIns="0" rIns="0" bIns="0" rtlCol="0" anchor="ctr"/>
          <a:lstStyle/>
          <a:p>
            <a:pPr algn="r" indent="0" marL="0">
              <a:buNone/>
            </a:pPr>
            <a:r>
              <a:rPr lang="en-US" sz="1100" dirty="0">
                <a:solidFill>
                  <a:schemeClr val="tx2"/>
                </a:solidFill>
                <a:latin typeface="Consolas" pitchFamily="34" charset="0"/>
                <a:ea typeface="Consolas" pitchFamily="34" charset="-122"/>
                <a:cs typeface="Consolas" pitchFamily="34" charset="-120"/>
              </a:rPr>
              <a:t>One command, runs locally</a:t>
            </a:r>
            <a:endParaRPr lang="en-US" sz="1100" dirty="0"/>
          </a:p>
        </p:txBody>
      </p:sp>
      <p:sp>
        <p:nvSpPr>
          <p:cNvPr id="5" name="Text 1"/>
          <p:cNvSpPr/>
          <p:nvPr>
            <p:ph idx="103" type="title" hasCustomPrompt="1"/>
          </p:nvPr>
        </p:nvSpPr>
        <p:spPr>
          <a:xfrm>
            <a:off x="713232" y="1325880"/>
            <a:ext cx="10765231" cy="1280160"/>
          </a:xfrm>
          <a:prstGeom prst="rect">
            <a:avLst/>
          </a:prstGeom>
          <a:noFill/>
          <a:ln/>
        </p:spPr>
        <p:txBody>
          <a:bodyPr wrap="square" lIns="0" tIns="0" rIns="0" bIns="0" rtlCol="0" anchor="t"/>
          <a:lstStyle/>
          <a:p>
            <a:pPr algn="l" indent="0" marL="0">
              <a:lnSpc>
                <a:spcPct val="92000"/>
              </a:lnSpc>
              <a:buNone/>
            </a:pPr>
            <a:r>
              <a:rPr lang="en-US" sz="4400" b="1" dirty="0">
                <a:solidFill>
                  <a:schemeClr val="tx1"/>
                </a:solidFill>
              </a:rPr>
              <a:t>From autonomous play to a bug report you can replay</a:t>
            </a:r>
            <a:endParaRPr lang="en-US" sz="4400" dirty="0"/>
          </a:p>
        </p:txBody>
      </p:sp>
      <p:sp>
        <p:nvSpPr>
          <p:cNvPr id="6" name="Shape 3"/>
          <p:cNvSpPr/>
          <p:nvPr/>
        </p:nvSpPr>
        <p:spPr>
          <a:xfrm>
            <a:off x="713232" y="2971800"/>
            <a:ext cx="10765231" cy="0"/>
          </a:xfrm>
          <a:prstGeom prst="line">
            <a:avLst/>
          </a:prstGeom>
          <a:noFill/>
          <a:ln w="19050">
            <a:solidFill>
              <a:schemeClr val="tx1"/>
            </a:solidFill>
            <a:prstDash val="solid"/>
          </a:ln>
        </p:spPr>
      </p:sp>
      <p:sp>
        <p:nvSpPr>
          <p:cNvPr id="7" name="Text 4"/>
          <p:cNvSpPr txBox="1"/>
          <p:nvPr/>
        </p:nvSpPr>
        <p:spPr>
          <a:xfrm>
            <a:off x="713232" y="3127248"/>
            <a:ext cx="1924446" cy="274320"/>
          </a:xfrm>
          <a:prstGeom prst="rect">
            <a:avLst/>
          </a:prstGeom>
          <a:noFill/>
          <a:ln/>
        </p:spPr>
        <p:txBody>
          <a:bodyPr wrap="square" lIns="0" tIns="0" rIns="0" bIns="0" rtlCol="0" anchor="t"/>
          <a:lstStyle/>
          <a:p>
            <a:pPr indent="0" marL="0">
              <a:buNone/>
            </a:pPr>
            <a:r>
              <a:rPr lang="en-US" sz="1100" b="1" dirty="0">
                <a:solidFill>
                  <a:schemeClr val="accent1"/>
                </a:solidFill>
                <a:latin typeface="Consolas" pitchFamily="34" charset="0"/>
                <a:ea typeface="Consolas" pitchFamily="34" charset="-122"/>
                <a:cs typeface="Consolas" pitchFamily="34" charset="-120"/>
              </a:rPr>
              <a:t>01</a:t>
            </a:r>
            <a:endParaRPr lang="en-US" sz="1100" dirty="0"/>
          </a:p>
        </p:txBody>
      </p:sp>
      <p:sp>
        <p:nvSpPr>
          <p:cNvPr id="8" name="Step 1 title"/>
          <p:cNvSpPr txBox="1"/>
          <p:nvPr/>
        </p:nvSpPr>
        <p:spPr>
          <a:xfrm>
            <a:off x="713232" y="3429000"/>
            <a:ext cx="1924446" cy="685800"/>
          </a:xfrm>
          <a:prstGeom prst="rect">
            <a:avLst/>
          </a:prstGeom>
          <a:noFill/>
          <a:ln/>
        </p:spPr>
        <p:txBody>
          <a:bodyPr wrap="square" lIns="0" tIns="0" rIns="0" bIns="0" rtlCol="0" anchor="t"/>
          <a:lstStyle/>
          <a:p>
            <a:pPr indent="0" marL="0">
              <a:lnSpc>
                <a:spcPct val="95000"/>
              </a:lnSpc>
              <a:buNone/>
            </a:pPr>
            <a:r>
              <a:rPr lang="en-US" sz="2100" b="1" dirty="0">
                <a:solidFill>
                  <a:schemeClr val="tx1"/>
                </a:solidFill>
              </a:rPr>
              <a:t>Agent plays</a:t>
            </a:r>
            <a:endParaRPr lang="en-US" sz="2100" dirty="0"/>
          </a:p>
        </p:txBody>
      </p:sp>
      <p:sp>
        <p:nvSpPr>
          <p:cNvPr id="9" name="Step 1 text"/>
          <p:cNvSpPr txBox="1"/>
          <p:nvPr/>
        </p:nvSpPr>
        <p:spPr>
          <a:xfrm>
            <a:off x="713232" y="4133088"/>
            <a:ext cx="1924446" cy="1143000"/>
          </a:xfrm>
          <a:prstGeom prst="rect">
            <a:avLst/>
          </a:prstGeom>
          <a:noFill/>
          <a:ln/>
        </p:spPr>
        <p:txBody>
          <a:bodyPr wrap="square" lIns="0" tIns="0" rIns="0" bIns="0" rtlCol="0" anchor="t"/>
          <a:lstStyle/>
          <a:p>
            <a:pPr indent="0" marL="0">
              <a:buNone/>
            </a:pPr>
            <a:r>
              <a:rPr lang="en-US" sz="1400" dirty="0">
                <a:solidFill>
                  <a:schemeClr val="tx1"/>
                </a:solidFill>
              </a:rPr>
              <a:t>An autonomous agent plays the level. No human at the controls.</a:t>
            </a:r>
            <a:endParaRPr lang="en-US" sz="1400" dirty="0"/>
          </a:p>
        </p:txBody>
      </p:sp>
      <p:sp>
        <p:nvSpPr>
          <p:cNvPr id="10" name="Text 7"/>
          <p:cNvSpPr txBox="1"/>
          <p:nvPr/>
        </p:nvSpPr>
        <p:spPr>
          <a:xfrm>
            <a:off x="713232" y="5349240"/>
            <a:ext cx="1924446" cy="22860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buttons →</a:t>
            </a:r>
            <a:endParaRPr lang="en-US" sz="1000" dirty="0"/>
          </a:p>
        </p:txBody>
      </p:sp>
      <p:sp>
        <p:nvSpPr>
          <p:cNvPr id="11" name="Shape 8"/>
          <p:cNvSpPr/>
          <p:nvPr/>
        </p:nvSpPr>
        <p:spPr>
          <a:xfrm>
            <a:off x="2756550" y="2971800"/>
            <a:ext cx="0" cy="2606040"/>
          </a:xfrm>
          <a:prstGeom prst="line">
            <a:avLst/>
          </a:prstGeom>
          <a:noFill/>
          <a:ln w="9525">
            <a:solidFill>
              <a:schemeClr val="accent2"/>
            </a:solidFill>
            <a:prstDash val="solid"/>
          </a:ln>
        </p:spPr>
      </p:sp>
      <p:sp>
        <p:nvSpPr>
          <p:cNvPr id="12" name="Text 9"/>
          <p:cNvSpPr txBox="1"/>
          <p:nvPr/>
        </p:nvSpPr>
        <p:spPr>
          <a:xfrm>
            <a:off x="2866278" y="3127248"/>
            <a:ext cx="1924446" cy="274320"/>
          </a:xfrm>
          <a:prstGeom prst="rect">
            <a:avLst/>
          </a:prstGeom>
          <a:noFill/>
          <a:ln/>
        </p:spPr>
        <p:txBody>
          <a:bodyPr wrap="square" lIns="0" tIns="0" rIns="0" bIns="0" rtlCol="0" anchor="t"/>
          <a:lstStyle/>
          <a:p>
            <a:pPr indent="0" marL="0">
              <a:buNone/>
            </a:pPr>
            <a:r>
              <a:rPr lang="en-US" sz="1100" b="1" dirty="0">
                <a:solidFill>
                  <a:schemeClr val="accent1"/>
                </a:solidFill>
                <a:latin typeface="Consolas" pitchFamily="34" charset="0"/>
                <a:ea typeface="Consolas" pitchFamily="34" charset="-122"/>
                <a:cs typeface="Consolas" pitchFamily="34" charset="-120"/>
              </a:rPr>
              <a:t>02</a:t>
            </a:r>
            <a:endParaRPr lang="en-US" sz="1100" dirty="0"/>
          </a:p>
        </p:txBody>
      </p:sp>
      <p:sp>
        <p:nvSpPr>
          <p:cNvPr id="13" name="Step 2 title"/>
          <p:cNvSpPr txBox="1"/>
          <p:nvPr/>
        </p:nvSpPr>
        <p:spPr>
          <a:xfrm>
            <a:off x="2866278" y="3429000"/>
            <a:ext cx="1924446" cy="685800"/>
          </a:xfrm>
          <a:prstGeom prst="rect">
            <a:avLst/>
          </a:prstGeom>
          <a:noFill/>
          <a:ln/>
        </p:spPr>
        <p:txBody>
          <a:bodyPr wrap="square" lIns="0" tIns="0" rIns="0" bIns="0" rtlCol="0" anchor="t"/>
          <a:lstStyle/>
          <a:p>
            <a:pPr indent="0" marL="0">
              <a:lnSpc>
                <a:spcPct val="95000"/>
              </a:lnSpc>
              <a:buNone/>
            </a:pPr>
            <a:r>
              <a:rPr lang="en-US" sz="2100" b="1" dirty="0">
                <a:solidFill>
                  <a:schemeClr val="tx1"/>
                </a:solidFill>
              </a:rPr>
              <a:t>Engine simulates</a:t>
            </a:r>
            <a:endParaRPr lang="en-US" sz="2100" dirty="0"/>
          </a:p>
        </p:txBody>
      </p:sp>
      <p:sp>
        <p:nvSpPr>
          <p:cNvPr id="14" name="Step 2 text"/>
          <p:cNvSpPr txBox="1"/>
          <p:nvPr/>
        </p:nvSpPr>
        <p:spPr>
          <a:xfrm>
            <a:off x="2866278" y="4133088"/>
            <a:ext cx="1924446" cy="1143000"/>
          </a:xfrm>
          <a:prstGeom prst="rect">
            <a:avLst/>
          </a:prstGeom>
          <a:noFill/>
          <a:ln/>
        </p:spPr>
        <p:txBody>
          <a:bodyPr wrap="square" lIns="0" tIns="0" rIns="0" bIns="0" rtlCol="0" anchor="t"/>
          <a:lstStyle/>
          <a:p>
            <a:pPr indent="0" marL="0">
              <a:buNone/>
            </a:pPr>
            <a:r>
              <a:rPr lang="en-US" sz="1400" dirty="0">
                <a:solidFill>
                  <a:schemeClr val="tx1"/>
                </a:solidFill>
              </a:rPr>
              <a:t>Fixed 60 FPS physics, headless (no window), far faster than real time.</a:t>
            </a:r>
            <a:endParaRPr lang="en-US" sz="1400" dirty="0"/>
          </a:p>
        </p:txBody>
      </p:sp>
      <p:sp>
        <p:nvSpPr>
          <p:cNvPr id="15" name="Text 12"/>
          <p:cNvSpPr txBox="1"/>
          <p:nvPr/>
        </p:nvSpPr>
        <p:spPr>
          <a:xfrm>
            <a:off x="2866278" y="5349240"/>
            <a:ext cx="1924446" cy="22860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frame state →</a:t>
            </a:r>
            <a:endParaRPr lang="en-US" sz="1000" dirty="0"/>
          </a:p>
        </p:txBody>
      </p:sp>
      <p:sp>
        <p:nvSpPr>
          <p:cNvPr id="16" name="Shape 13"/>
          <p:cNvSpPr/>
          <p:nvPr/>
        </p:nvSpPr>
        <p:spPr>
          <a:xfrm>
            <a:off x="4909596" y="2971800"/>
            <a:ext cx="0" cy="2606040"/>
          </a:xfrm>
          <a:prstGeom prst="line">
            <a:avLst/>
          </a:prstGeom>
          <a:noFill/>
          <a:ln w="9525">
            <a:solidFill>
              <a:schemeClr val="accent2"/>
            </a:solidFill>
            <a:prstDash val="solid"/>
          </a:ln>
        </p:spPr>
      </p:sp>
      <p:sp>
        <p:nvSpPr>
          <p:cNvPr id="17" name="Text 14"/>
          <p:cNvSpPr txBox="1"/>
          <p:nvPr/>
        </p:nvSpPr>
        <p:spPr>
          <a:xfrm>
            <a:off x="5019324" y="3127248"/>
            <a:ext cx="1924446" cy="274320"/>
          </a:xfrm>
          <a:prstGeom prst="rect">
            <a:avLst/>
          </a:prstGeom>
          <a:noFill/>
          <a:ln/>
        </p:spPr>
        <p:txBody>
          <a:bodyPr wrap="square" lIns="0" tIns="0" rIns="0" bIns="0" rtlCol="0" anchor="t"/>
          <a:lstStyle/>
          <a:p>
            <a:pPr indent="0" marL="0">
              <a:buNone/>
            </a:pPr>
            <a:r>
              <a:rPr lang="en-US" sz="1100" b="1" dirty="0">
                <a:solidFill>
                  <a:schemeClr val="accent1"/>
                </a:solidFill>
                <a:latin typeface="Consolas" pitchFamily="34" charset="0"/>
                <a:ea typeface="Consolas" pitchFamily="34" charset="-122"/>
                <a:cs typeface="Consolas" pitchFamily="34" charset="-120"/>
              </a:rPr>
              <a:t>03</a:t>
            </a:r>
            <a:endParaRPr lang="en-US" sz="1100" dirty="0"/>
          </a:p>
        </p:txBody>
      </p:sp>
      <p:sp>
        <p:nvSpPr>
          <p:cNvPr id="18" name="Step 3 title"/>
          <p:cNvSpPr txBox="1"/>
          <p:nvPr/>
        </p:nvSpPr>
        <p:spPr>
          <a:xfrm>
            <a:off x="5019324" y="3429000"/>
            <a:ext cx="1924446" cy="685800"/>
          </a:xfrm>
          <a:prstGeom prst="rect">
            <a:avLst/>
          </a:prstGeom>
          <a:noFill/>
          <a:ln/>
        </p:spPr>
        <p:txBody>
          <a:bodyPr wrap="square" lIns="0" tIns="0" rIns="0" bIns="0" rtlCol="0" anchor="t"/>
          <a:lstStyle/>
          <a:p>
            <a:pPr indent="0" marL="0">
              <a:lnSpc>
                <a:spcPct val="95000"/>
              </a:lnSpc>
              <a:buNone/>
            </a:pPr>
            <a:r>
              <a:rPr lang="en-US" sz="2100" b="1" dirty="0">
                <a:solidFill>
                  <a:schemeClr val="tx1"/>
                </a:solidFill>
              </a:rPr>
              <a:t>Telemetry</a:t>
            </a:r>
            <a:endParaRPr lang="en-US" sz="2100" dirty="0"/>
          </a:p>
        </p:txBody>
      </p:sp>
      <p:sp>
        <p:nvSpPr>
          <p:cNvPr id="19" name="Step 3 text"/>
          <p:cNvSpPr txBox="1"/>
          <p:nvPr/>
        </p:nvSpPr>
        <p:spPr>
          <a:xfrm>
            <a:off x="5019324" y="4133088"/>
            <a:ext cx="1924446" cy="1143000"/>
          </a:xfrm>
          <a:prstGeom prst="rect">
            <a:avLst/>
          </a:prstGeom>
          <a:noFill/>
          <a:ln/>
        </p:spPr>
        <p:txBody>
          <a:bodyPr wrap="square" lIns="0" tIns="0" rIns="0" bIns="0" rtlCol="0" anchor="t"/>
          <a:lstStyle/>
          <a:p>
            <a:pPr indent="0" marL="0">
              <a:buNone/>
            </a:pPr>
            <a:r>
              <a:rPr lang="en-US" sz="1400" dirty="0">
                <a:solidFill>
                  <a:schemeClr val="tx1"/>
                </a:solidFill>
              </a:rPr>
              <a:t>Every frame: position, velocity, buttons, grounded, collision.</a:t>
            </a:r>
            <a:endParaRPr lang="en-US" sz="1400" dirty="0"/>
          </a:p>
        </p:txBody>
      </p:sp>
      <p:sp>
        <p:nvSpPr>
          <p:cNvPr id="20" name="Text 17"/>
          <p:cNvSpPr txBox="1"/>
          <p:nvPr/>
        </p:nvSpPr>
        <p:spPr>
          <a:xfrm>
            <a:off x="5019324" y="5349240"/>
            <a:ext cx="1924446" cy="22860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CSV →</a:t>
            </a:r>
            <a:endParaRPr lang="en-US" sz="1000" dirty="0"/>
          </a:p>
        </p:txBody>
      </p:sp>
      <p:sp>
        <p:nvSpPr>
          <p:cNvPr id="21" name="Shape 18"/>
          <p:cNvSpPr/>
          <p:nvPr/>
        </p:nvSpPr>
        <p:spPr>
          <a:xfrm>
            <a:off x="7062643" y="2971800"/>
            <a:ext cx="0" cy="2606040"/>
          </a:xfrm>
          <a:prstGeom prst="line">
            <a:avLst/>
          </a:prstGeom>
          <a:noFill/>
          <a:ln w="9525">
            <a:solidFill>
              <a:schemeClr val="accent2"/>
            </a:solidFill>
            <a:prstDash val="solid"/>
          </a:ln>
        </p:spPr>
      </p:sp>
      <p:sp>
        <p:nvSpPr>
          <p:cNvPr id="22" name="Text 19"/>
          <p:cNvSpPr txBox="1"/>
          <p:nvPr/>
        </p:nvSpPr>
        <p:spPr>
          <a:xfrm>
            <a:off x="7172371" y="3127248"/>
            <a:ext cx="1924446" cy="274320"/>
          </a:xfrm>
          <a:prstGeom prst="rect">
            <a:avLst/>
          </a:prstGeom>
          <a:noFill/>
          <a:ln/>
        </p:spPr>
        <p:txBody>
          <a:bodyPr wrap="square" lIns="0" tIns="0" rIns="0" bIns="0" rtlCol="0" anchor="t"/>
          <a:lstStyle/>
          <a:p>
            <a:pPr indent="0" marL="0">
              <a:buNone/>
            </a:pPr>
            <a:r>
              <a:rPr lang="en-US" sz="1100" b="1" dirty="0">
                <a:solidFill>
                  <a:schemeClr val="accent1"/>
                </a:solidFill>
                <a:latin typeface="Consolas" pitchFamily="34" charset="0"/>
                <a:ea typeface="Consolas" pitchFamily="34" charset="-122"/>
                <a:cs typeface="Consolas" pitchFamily="34" charset="-120"/>
              </a:rPr>
              <a:t>04</a:t>
            </a:r>
            <a:endParaRPr lang="en-US" sz="1100" dirty="0"/>
          </a:p>
        </p:txBody>
      </p:sp>
      <p:sp>
        <p:nvSpPr>
          <p:cNvPr id="23" name="Step 4 title"/>
          <p:cNvSpPr txBox="1"/>
          <p:nvPr/>
        </p:nvSpPr>
        <p:spPr>
          <a:xfrm>
            <a:off x="7172371" y="3429000"/>
            <a:ext cx="1924446" cy="685800"/>
          </a:xfrm>
          <a:prstGeom prst="rect">
            <a:avLst/>
          </a:prstGeom>
          <a:noFill/>
          <a:ln/>
        </p:spPr>
        <p:txBody>
          <a:bodyPr wrap="square" lIns="0" tIns="0" rIns="0" bIns="0" rtlCol="0" anchor="t"/>
          <a:lstStyle/>
          <a:p>
            <a:pPr indent="0" marL="0">
              <a:lnSpc>
                <a:spcPct val="95000"/>
              </a:lnSpc>
              <a:buNone/>
            </a:pPr>
            <a:r>
              <a:rPr lang="en-US" sz="2100" b="1" dirty="0">
                <a:solidFill>
                  <a:schemeClr val="tx1"/>
                </a:solidFill>
              </a:rPr>
              <a:t>Bug detector</a:t>
            </a:r>
            <a:endParaRPr lang="en-US" sz="2100" dirty="0"/>
          </a:p>
        </p:txBody>
      </p:sp>
      <p:sp>
        <p:nvSpPr>
          <p:cNvPr id="24" name="Step 4 text"/>
          <p:cNvSpPr txBox="1"/>
          <p:nvPr/>
        </p:nvSpPr>
        <p:spPr>
          <a:xfrm>
            <a:off x="7172371" y="4133088"/>
            <a:ext cx="1924446" cy="1143000"/>
          </a:xfrm>
          <a:prstGeom prst="rect">
            <a:avLst/>
          </a:prstGeom>
          <a:noFill/>
          <a:ln/>
        </p:spPr>
        <p:txBody>
          <a:bodyPr wrap="square" lIns="0" tIns="0" rIns="0" bIns="0" rtlCol="0" anchor="t"/>
          <a:lstStyle/>
          <a:p>
            <a:pPr indent="0" marL="0">
              <a:buNone/>
            </a:pPr>
            <a:r>
              <a:rPr lang="en-US" sz="1400" dirty="0">
                <a:solidFill>
                  <a:schemeClr val="tx1"/>
                </a:solidFill>
              </a:rPr>
              <a:t>Classifies physics anomalies. One report per bug: type, severity, location, last 30 inputs.</a:t>
            </a:r>
            <a:endParaRPr lang="en-US" sz="1400" dirty="0"/>
          </a:p>
        </p:txBody>
      </p:sp>
      <p:sp>
        <p:nvSpPr>
          <p:cNvPr id="25" name="Text 22"/>
          <p:cNvSpPr txBox="1"/>
          <p:nvPr/>
        </p:nvSpPr>
        <p:spPr>
          <a:xfrm>
            <a:off x="7172371" y="5349240"/>
            <a:ext cx="1924446" cy="22860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reports →</a:t>
            </a:r>
            <a:endParaRPr lang="en-US" sz="1000" dirty="0"/>
          </a:p>
        </p:txBody>
      </p:sp>
      <p:sp>
        <p:nvSpPr>
          <p:cNvPr id="26" name="Shape 23"/>
          <p:cNvSpPr/>
          <p:nvPr/>
        </p:nvSpPr>
        <p:spPr>
          <a:xfrm>
            <a:off x="9215689" y="2971800"/>
            <a:ext cx="0" cy="2606040"/>
          </a:xfrm>
          <a:prstGeom prst="line">
            <a:avLst/>
          </a:prstGeom>
          <a:noFill/>
          <a:ln w="9525">
            <a:solidFill>
              <a:schemeClr val="accent2"/>
            </a:solidFill>
            <a:prstDash val="solid"/>
          </a:ln>
        </p:spPr>
      </p:sp>
      <p:sp>
        <p:nvSpPr>
          <p:cNvPr id="27" name="Text 24"/>
          <p:cNvSpPr txBox="1"/>
          <p:nvPr/>
        </p:nvSpPr>
        <p:spPr>
          <a:xfrm>
            <a:off x="9325417" y="3127248"/>
            <a:ext cx="1924446" cy="274320"/>
          </a:xfrm>
          <a:prstGeom prst="rect">
            <a:avLst/>
          </a:prstGeom>
          <a:noFill/>
          <a:ln/>
        </p:spPr>
        <p:txBody>
          <a:bodyPr wrap="square" lIns="0" tIns="0" rIns="0" bIns="0" rtlCol="0" anchor="t"/>
          <a:lstStyle/>
          <a:p>
            <a:pPr indent="0" marL="0">
              <a:buNone/>
            </a:pPr>
            <a:r>
              <a:rPr lang="en-US" sz="1100" b="1" dirty="0">
                <a:solidFill>
                  <a:schemeClr val="accent1"/>
                </a:solidFill>
                <a:latin typeface="Consolas" pitchFamily="34" charset="0"/>
                <a:ea typeface="Consolas" pitchFamily="34" charset="-122"/>
                <a:cs typeface="Consolas" pitchFamily="34" charset="-120"/>
              </a:rPr>
              <a:t>05</a:t>
            </a:r>
            <a:endParaRPr lang="en-US" sz="1100" dirty="0"/>
          </a:p>
        </p:txBody>
      </p:sp>
      <p:sp>
        <p:nvSpPr>
          <p:cNvPr id="28" name="Step 5 title"/>
          <p:cNvSpPr txBox="1"/>
          <p:nvPr/>
        </p:nvSpPr>
        <p:spPr>
          <a:xfrm>
            <a:off x="9325417" y="3429000"/>
            <a:ext cx="1924446" cy="685800"/>
          </a:xfrm>
          <a:prstGeom prst="rect">
            <a:avLst/>
          </a:prstGeom>
          <a:noFill/>
          <a:ln/>
        </p:spPr>
        <p:txBody>
          <a:bodyPr wrap="square" lIns="0" tIns="0" rIns="0" bIns="0" rtlCol="0" anchor="t"/>
          <a:lstStyle/>
          <a:p>
            <a:pPr indent="0" marL="0">
              <a:lnSpc>
                <a:spcPct val="95000"/>
              </a:lnSpc>
              <a:buNone/>
            </a:pPr>
            <a:r>
              <a:rPr lang="en-US" sz="2100" b="1" dirty="0">
                <a:solidFill>
                  <a:schemeClr val="tx1"/>
                </a:solidFill>
              </a:rPr>
              <a:t>Dashboard</a:t>
            </a:r>
            <a:endParaRPr lang="en-US" sz="2100" dirty="0"/>
          </a:p>
        </p:txBody>
      </p:sp>
      <p:sp>
        <p:nvSpPr>
          <p:cNvPr id="29" name="Step 5 text"/>
          <p:cNvSpPr txBox="1"/>
          <p:nvPr/>
        </p:nvSpPr>
        <p:spPr>
          <a:xfrm>
            <a:off x="9325417" y="4133088"/>
            <a:ext cx="1924446" cy="1143000"/>
          </a:xfrm>
          <a:prstGeom prst="rect">
            <a:avLst/>
          </a:prstGeom>
          <a:noFill/>
          <a:ln/>
        </p:spPr>
        <p:txBody>
          <a:bodyPr wrap="square" lIns="0" tIns="0" rIns="0" bIns="0" rtlCol="0" anchor="t"/>
          <a:lstStyle/>
          <a:p>
            <a:pPr indent="0" marL="0">
              <a:buNone/>
            </a:pPr>
            <a:r>
              <a:rPr lang="en-US" sz="1400" dirty="0">
                <a:solidFill>
                  <a:schemeClr val="tx1"/>
                </a:solidFill>
              </a:rPr>
              <a:t>Local website: coverage heatmap, red bug markers, filterable log, export.</a:t>
            </a:r>
            <a:endParaRPr lang="en-US" sz="1400" dirty="0"/>
          </a:p>
        </p:txBody>
      </p:sp>
      <p:sp>
        <p:nvSpPr>
          <p:cNvPr id="30" name="Text 27"/>
          <p:cNvSpPr txBox="1"/>
          <p:nvPr/>
        </p:nvSpPr>
        <p:spPr>
          <a:xfrm>
            <a:off x="9325417" y="5349240"/>
            <a:ext cx="1924446" cy="22860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localhost</a:t>
            </a:r>
            <a:endParaRPr lang="en-US" sz="1000" dirty="0"/>
          </a:p>
        </p:txBody>
      </p:sp>
      <p:sp>
        <p:nvSpPr>
          <p:cNvPr id="31" name="Shape 28"/>
          <p:cNvSpPr/>
          <p:nvPr/>
        </p:nvSpPr>
        <p:spPr>
          <a:xfrm>
            <a:off x="713232" y="5824728"/>
            <a:ext cx="10765231" cy="0"/>
          </a:xfrm>
          <a:prstGeom prst="line">
            <a:avLst/>
          </a:prstGeom>
          <a:noFill/>
          <a:ln w="9525">
            <a:solidFill>
              <a:schemeClr val="accent2"/>
            </a:solidFill>
            <a:prstDash val="solid"/>
          </a:ln>
        </p:spPr>
      </p:sp>
      <p:sp>
        <p:nvSpPr>
          <p:cNvPr id="32" name="Text 29"/>
          <p:cNvSpPr txBox="1"/>
          <p:nvPr/>
        </p:nvSpPr>
        <p:spPr>
          <a:xfrm>
            <a:off x="713232" y="5925312"/>
            <a:ext cx="5943600" cy="27432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Python · Pygame · Streamlit</a:t>
            </a:r>
            <a:endParaRPr lang="en-US" sz="1000" dirty="0"/>
          </a:p>
        </p:txBody>
      </p:sp>
      <p:sp>
        <p:nvSpPr>
          <p:cNvPr id="33" name="Text 30"/>
          <p:cNvSpPr txBox="1"/>
          <p:nvPr/>
        </p:nvSpPr>
        <p:spPr>
          <a:xfrm>
            <a:off x="6449263" y="5925312"/>
            <a:ext cx="5029200" cy="274320"/>
          </a:xfrm>
          <a:prstGeom prst="rect">
            <a:avLst/>
          </a:prstGeom>
          <a:noFill/>
          <a:ln/>
        </p:spPr>
        <p:txBody>
          <a:bodyPr wrap="square" lIns="0" tIns="0" rIns="0" bIns="0" rtlCol="0" anchor="t"/>
          <a:lstStyle/>
          <a:p>
            <a:pPr algn="r" indent="0" marL="0">
              <a:buNone/>
            </a:pPr>
            <a:r>
              <a:rPr lang="en-US" sz="1000" dirty="0">
                <a:solidFill>
                  <a:schemeClr val="tx2"/>
                </a:solidFill>
                <a:latin typeface="Consolas" pitchFamily="34" charset="0"/>
                <a:ea typeface="Consolas" pitchFamily="34" charset="-122"/>
                <a:cs typeface="Consolas" pitchFamily="34" charset="-120"/>
              </a:rPr>
              <a:t>No cloud · no API keys · no GPU</a:t>
            </a:r>
            <a:endParaRPr lang="en-US" sz="1000" dirty="0"/>
          </a:p>
        </p:txBody>
      </p:sp>
      <p:sp>
        <p:nvSpPr>
          <p:cNvPr id="25" name="Slide Number Placeholder 0"/>
          <p:cNvSpPr>
            <a:spLocks noGrp="1"/>
          </p:cNvSpPr>
          <p:nvPr>
            <p:ph type="sldNum" sz="quarter" idx="4294967295"/>
          </p:nvPr>
        </p:nvSpPr>
        <p:spPr>
          <a:xfrm>
            <a:off x="713232" y="786384"/>
            <a:ext cx="54864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1"/>
                </a:solidFill>
                <a:latin typeface="Consolas"/>
                <a:ea typeface="Consolas"/>
                <a:cs typeface="Consolas"/>
              </a:defRPr>
            </a:lvl1pPr>
          </a:lstStyle>
          <a:p>
            <a:pPr algn="l"/>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1472184" y="786384"/>
            <a:ext cx="6583680" cy="292608"/>
          </a:xfrm>
          <a:prstGeom prst="rect">
            <a:avLst/>
          </a:prstGeom>
          <a:noFill/>
          <a:ln/>
        </p:spPr>
        <p:txBody>
          <a:bodyPr wrap="square" lIns="0" tIns="0" rIns="0" bIns="0" rtlCol="0" anchor="ctr"/>
          <a:lstStyle/>
          <a:p>
            <a:pPr indent="0" marL="0">
              <a:buNone/>
            </a:pPr>
            <a:r>
              <a:rPr lang="en-US" sz="1100" spc="100" kern="0" dirty="0">
                <a:solidFill>
                  <a:schemeClr val="tx2"/>
                </a:solidFill>
                <a:latin typeface="Consolas" pitchFamily="34" charset="0"/>
                <a:ea typeface="Consolas" pitchFamily="34" charset="-122"/>
                <a:cs typeface="Consolas" pitchFamily="34" charset="-120"/>
              </a:rPr>
              <a:t>WHERE IS THE AI?</a:t>
            </a:r>
            <a:endParaRPr lang="en-US" sz="1100" dirty="0"/>
          </a:p>
        </p:txBody>
      </p:sp>
      <p:sp>
        <p:nvSpPr>
          <p:cNvPr id="3" name="Text 1"/>
          <p:cNvSpPr/>
          <p:nvPr>
            <p:ph idx="102" type="body" hasCustomPrompt="1"/>
          </p:nvPr>
        </p:nvSpPr>
        <p:spPr>
          <a:xfrm>
            <a:off x="6400800" y="786384"/>
            <a:ext cx="5077663" cy="292608"/>
          </a:xfrm>
          <a:prstGeom prst="rect">
            <a:avLst/>
          </a:prstGeom>
          <a:noFill/>
          <a:ln/>
        </p:spPr>
        <p:txBody>
          <a:bodyPr wrap="square" lIns="0" tIns="0" rIns="0" bIns="0" rtlCol="0" anchor="ctr"/>
          <a:lstStyle/>
          <a:p>
            <a:pPr algn="r" indent="0" marL="0">
              <a:buNone/>
            </a:pPr>
            <a:r>
              <a:rPr lang="en-US" sz="1100" dirty="0">
                <a:solidFill>
                  <a:schemeClr val="tx2"/>
                </a:solidFill>
                <a:latin typeface="Consolas" pitchFamily="34" charset="0"/>
                <a:ea typeface="Consolas" pitchFamily="34" charset="-122"/>
                <a:cs typeface="Consolas" pitchFamily="34" charset="-120"/>
              </a:rPr>
              <a:t>Said honestly</a:t>
            </a:r>
            <a:endParaRPr lang="en-US" sz="1100" dirty="0"/>
          </a:p>
        </p:txBody>
      </p:sp>
      <p:sp>
        <p:nvSpPr>
          <p:cNvPr id="5" name="Text 1"/>
          <p:cNvSpPr/>
          <p:nvPr>
            <p:ph idx="103" type="title" hasCustomPrompt="1"/>
          </p:nvPr>
        </p:nvSpPr>
        <p:spPr>
          <a:xfrm>
            <a:off x="713232" y="1325880"/>
            <a:ext cx="10765231" cy="1280160"/>
          </a:xfrm>
          <a:prstGeom prst="rect">
            <a:avLst/>
          </a:prstGeom>
          <a:noFill/>
          <a:ln/>
        </p:spPr>
        <p:txBody>
          <a:bodyPr wrap="square" lIns="0" tIns="0" rIns="0" bIns="0" rtlCol="0" anchor="t"/>
          <a:lstStyle/>
          <a:p>
            <a:pPr algn="l" indent="0" marL="0">
              <a:lnSpc>
                <a:spcPct val="92000"/>
              </a:lnSpc>
              <a:buNone/>
            </a:pPr>
            <a:r>
              <a:rPr lang="en-US" sz="4400" b="1" dirty="0">
                <a:solidFill>
                  <a:schemeClr val="tx1"/>
                </a:solidFill>
              </a:rPr>
              <a:t>An autonomous, rule-based agent built to break geometry</a:t>
            </a:r>
            <a:endParaRPr lang="en-US" sz="4400" dirty="0"/>
          </a:p>
        </p:txBody>
      </p:sp>
      <p:sp>
        <p:nvSpPr>
          <p:cNvPr id="6" name="Not ML badge"/>
          <p:cNvSpPr txBox="1"/>
          <p:nvPr/>
        </p:nvSpPr>
        <p:spPr>
          <a:xfrm>
            <a:off x="713232" y="2724912"/>
            <a:ext cx="4846320" cy="329184"/>
          </a:xfrm>
          <a:prstGeom prst="rect">
            <a:avLst/>
          </a:prstGeom>
          <a:solidFill>
            <a:schemeClr val="tx1"/>
          </a:solidFill>
          <a:ln/>
        </p:spPr>
        <p:txBody>
          <a:bodyPr wrap="square" lIns="76200" tIns="76200" rIns="76200" bIns="76200" rtlCol="0" anchor="ctr"/>
          <a:lstStyle/>
          <a:p>
            <a:pPr indent="0" marL="0">
              <a:buNone/>
            </a:pPr>
            <a:r>
              <a:rPr lang="en-US" sz="1200" dirty="0">
                <a:solidFill>
                  <a:schemeClr val="bg1"/>
                </a:solidFill>
                <a:latin typeface="Consolas" pitchFamily="34" charset="0"/>
                <a:ea typeface="Consolas" pitchFamily="34" charset="-122"/>
                <a:cs typeface="Consolas" pitchFamily="34" charset="-120"/>
              </a:rPr>
              <a:t>State machine · not machine learning · not an LLM</a:t>
            </a:r>
            <a:endParaRPr lang="en-US" sz="1200" dirty="0"/>
          </a:p>
        </p:txBody>
      </p:sp>
      <p:sp>
        <p:nvSpPr>
          <p:cNvPr id="7" name="Shape 4"/>
          <p:cNvSpPr/>
          <p:nvPr/>
        </p:nvSpPr>
        <p:spPr>
          <a:xfrm>
            <a:off x="713232" y="3401568"/>
            <a:ext cx="5222596" cy="0"/>
          </a:xfrm>
          <a:prstGeom prst="line">
            <a:avLst/>
          </a:prstGeom>
          <a:noFill/>
          <a:ln w="19050">
            <a:solidFill>
              <a:schemeClr val="tx1"/>
            </a:solidFill>
            <a:prstDash val="solid"/>
          </a:ln>
        </p:spPr>
      </p:sp>
      <p:sp>
        <p:nvSpPr>
          <p:cNvPr id="8" name="Text 5"/>
          <p:cNvSpPr txBox="1"/>
          <p:nvPr/>
        </p:nvSpPr>
        <p:spPr>
          <a:xfrm>
            <a:off x="713232" y="3520440"/>
            <a:ext cx="5222596" cy="256032"/>
          </a:xfrm>
          <a:prstGeom prst="rect">
            <a:avLst/>
          </a:prstGeom>
          <a:noFill/>
          <a:ln/>
        </p:spPr>
        <p:txBody>
          <a:bodyPr wrap="square" lIns="0" tIns="0" rIns="0" bIns="0" rtlCol="0" anchor="t"/>
          <a:lstStyle/>
          <a:p>
            <a:pPr indent="0" marL="0">
              <a:buNone/>
            </a:pPr>
            <a:r>
              <a:rPr lang="en-US" sz="1000" spc="200" kern="0" dirty="0">
                <a:solidFill>
                  <a:schemeClr val="tx2"/>
                </a:solidFill>
                <a:latin typeface="Consolas" pitchFamily="34" charset="0"/>
                <a:ea typeface="Consolas" pitchFamily="34" charset="-122"/>
                <a:cs typeface="Consolas" pitchFamily="34" charset="-120"/>
              </a:rPr>
              <a:t>MODE 1</a:t>
            </a:r>
            <a:endParaRPr lang="en-US" sz="1000" dirty="0"/>
          </a:p>
        </p:txBody>
      </p:sp>
      <p:sp>
        <p:nvSpPr>
          <p:cNvPr id="9" name="Text 6"/>
          <p:cNvSpPr txBox="1"/>
          <p:nvPr/>
        </p:nvSpPr>
        <p:spPr>
          <a:xfrm>
            <a:off x="713232" y="3767328"/>
            <a:ext cx="5222596" cy="411480"/>
          </a:xfrm>
          <a:prstGeom prst="rect">
            <a:avLst/>
          </a:prstGeom>
          <a:noFill/>
          <a:ln/>
        </p:spPr>
        <p:txBody>
          <a:bodyPr wrap="square" lIns="0" tIns="0" rIns="0" bIns="0" rtlCol="0" anchor="t"/>
          <a:lstStyle/>
          <a:p>
            <a:pPr indent="0" marL="0">
              <a:buNone/>
            </a:pPr>
            <a:r>
              <a:rPr lang="en-US" sz="2200" b="1" dirty="0">
                <a:solidFill>
                  <a:schemeClr val="tx1"/>
                </a:solidFill>
                <a:latin typeface="Consolas" pitchFamily="34" charset="0"/>
                <a:ea typeface="Consolas" pitchFamily="34" charset="-122"/>
                <a:cs typeface="Consolas" pitchFamily="34" charset="-120"/>
              </a:rPr>
              <a:t>Boundary_Seeker</a:t>
            </a:r>
            <a:endParaRPr lang="en-US" sz="2200" dirty="0"/>
          </a:p>
        </p:txBody>
      </p:sp>
      <p:sp>
        <p:nvSpPr>
          <p:cNvPr id="10" name="Boundary_Seeker text"/>
          <p:cNvSpPr txBox="1"/>
          <p:nvPr/>
        </p:nvSpPr>
        <p:spPr>
          <a:xfrm>
            <a:off x="713232" y="4224528"/>
            <a:ext cx="5222596" cy="1051560"/>
          </a:xfrm>
          <a:prstGeom prst="rect">
            <a:avLst/>
          </a:prstGeom>
          <a:noFill/>
          <a:ln/>
        </p:spPr>
        <p:txBody>
          <a:bodyPr wrap="square" lIns="0" tIns="0" rIns="0" bIns="0" rtlCol="0" anchor="t"/>
          <a:lstStyle/>
          <a:p>
            <a:pPr indent="0" marL="0">
              <a:buNone/>
            </a:pPr>
            <a:r>
              <a:rPr lang="en-US" sz="1500" dirty="0">
                <a:solidFill>
                  <a:schemeClr val="tx1"/>
                </a:solidFill>
              </a:rPr>
              <a:t>Senses the level with raycasts (wall ahead?) and ground probes (ledge ahead?). Walks to walls, edges and corners and hugs them, because that's where collision bugs live.</a:t>
            </a:r>
            <a:endParaRPr lang="en-US" sz="1500" dirty="0"/>
          </a:p>
        </p:txBody>
      </p:sp>
      <p:sp>
        <p:nvSpPr>
          <p:cNvPr id="11" name="Shape 8"/>
          <p:cNvSpPr/>
          <p:nvPr/>
        </p:nvSpPr>
        <p:spPr>
          <a:xfrm>
            <a:off x="6255868" y="3401568"/>
            <a:ext cx="5222596" cy="0"/>
          </a:xfrm>
          <a:prstGeom prst="line">
            <a:avLst/>
          </a:prstGeom>
          <a:noFill/>
          <a:ln w="19050">
            <a:solidFill>
              <a:schemeClr val="tx1"/>
            </a:solidFill>
            <a:prstDash val="solid"/>
          </a:ln>
        </p:spPr>
      </p:sp>
      <p:sp>
        <p:nvSpPr>
          <p:cNvPr id="12" name="Text 9"/>
          <p:cNvSpPr txBox="1"/>
          <p:nvPr/>
        </p:nvSpPr>
        <p:spPr>
          <a:xfrm>
            <a:off x="6255868" y="3520440"/>
            <a:ext cx="5222596" cy="256032"/>
          </a:xfrm>
          <a:prstGeom prst="rect">
            <a:avLst/>
          </a:prstGeom>
          <a:noFill/>
          <a:ln/>
        </p:spPr>
        <p:txBody>
          <a:bodyPr wrap="square" lIns="0" tIns="0" rIns="0" bIns="0" rtlCol="0" anchor="t"/>
          <a:lstStyle/>
          <a:p>
            <a:pPr indent="0" marL="0">
              <a:buNone/>
            </a:pPr>
            <a:r>
              <a:rPr lang="en-US" sz="1000" spc="200" kern="0" dirty="0">
                <a:solidFill>
                  <a:schemeClr val="tx2"/>
                </a:solidFill>
                <a:latin typeface="Consolas" pitchFamily="34" charset="0"/>
                <a:ea typeface="Consolas" pitchFamily="34" charset="-122"/>
                <a:cs typeface="Consolas" pitchFamily="34" charset="-120"/>
              </a:rPr>
              <a:t>MODE 2</a:t>
            </a:r>
            <a:endParaRPr lang="en-US" sz="1000" dirty="0"/>
          </a:p>
        </p:txBody>
      </p:sp>
      <p:sp>
        <p:nvSpPr>
          <p:cNvPr id="13" name="Text 10"/>
          <p:cNvSpPr txBox="1"/>
          <p:nvPr/>
        </p:nvSpPr>
        <p:spPr>
          <a:xfrm>
            <a:off x="6255868" y="3767328"/>
            <a:ext cx="5222596" cy="411480"/>
          </a:xfrm>
          <a:prstGeom prst="rect">
            <a:avLst/>
          </a:prstGeom>
          <a:noFill/>
          <a:ln/>
        </p:spPr>
        <p:txBody>
          <a:bodyPr wrap="square" lIns="0" tIns="0" rIns="0" bIns="0" rtlCol="0" anchor="t"/>
          <a:lstStyle/>
          <a:p>
            <a:pPr indent="0" marL="0">
              <a:buNone/>
            </a:pPr>
            <a:r>
              <a:rPr lang="en-US" sz="2200" b="1" dirty="0">
                <a:solidFill>
                  <a:schemeClr val="accent1"/>
                </a:solidFill>
                <a:latin typeface="Consolas" pitchFamily="34" charset="0"/>
                <a:ea typeface="Consolas" pitchFamily="34" charset="-122"/>
                <a:cs typeface="Consolas" pitchFamily="34" charset="-120"/>
              </a:rPr>
              <a:t>Input_Spammer</a:t>
            </a:r>
            <a:endParaRPr lang="en-US" sz="2200" dirty="0"/>
          </a:p>
        </p:txBody>
      </p:sp>
      <p:sp>
        <p:nvSpPr>
          <p:cNvPr id="14" name="Input_Spammer text"/>
          <p:cNvSpPr txBox="1"/>
          <p:nvPr/>
        </p:nvSpPr>
        <p:spPr>
          <a:xfrm>
            <a:off x="6255868" y="4224528"/>
            <a:ext cx="5222596" cy="1051560"/>
          </a:xfrm>
          <a:prstGeom prst="rect">
            <a:avLst/>
          </a:prstGeom>
          <a:noFill/>
          <a:ln/>
        </p:spPr>
        <p:txBody>
          <a:bodyPr wrap="square" lIns="0" tIns="0" rIns="0" bIns="0" rtlCol="0" anchor="t"/>
          <a:lstStyle/>
          <a:p>
            <a:pPr indent="0" marL="0">
              <a:buNone/>
            </a:pPr>
            <a:r>
              <a:rPr lang="en-US" sz="1500" dirty="0">
                <a:solidFill>
                  <a:schemeClr val="tx1"/>
                </a:solidFill>
              </a:rPr>
              <a:t>When touching a wall, fires rapid non-linear button combos (diagonal + jump, direction toggles) to force the physics into broken states.</a:t>
            </a:r>
            <a:endParaRPr lang="en-US" sz="1500" dirty="0"/>
          </a:p>
        </p:txBody>
      </p:sp>
      <p:sp>
        <p:nvSpPr>
          <p:cNvPr id="15" name="Shape 12"/>
          <p:cNvSpPr/>
          <p:nvPr/>
        </p:nvSpPr>
        <p:spPr>
          <a:xfrm>
            <a:off x="713232" y="5577840"/>
            <a:ext cx="10765231" cy="0"/>
          </a:xfrm>
          <a:prstGeom prst="line">
            <a:avLst/>
          </a:prstGeom>
          <a:noFill/>
          <a:ln w="9525">
            <a:solidFill>
              <a:schemeClr val="accent2"/>
            </a:solidFill>
            <a:prstDash val="solid"/>
          </a:ln>
        </p:spPr>
      </p:sp>
      <p:sp>
        <p:nvSpPr>
          <p:cNvPr id="16" name="Text 13"/>
          <p:cNvSpPr txBox="1"/>
          <p:nvPr/>
        </p:nvSpPr>
        <p:spPr>
          <a:xfrm>
            <a:off x="713232" y="5687568"/>
            <a:ext cx="2015886" cy="274320"/>
          </a:xfrm>
          <a:prstGeom prst="rect">
            <a:avLst/>
          </a:prstGeom>
          <a:noFill/>
          <a:ln/>
        </p:spPr>
        <p:txBody>
          <a:bodyPr wrap="square" lIns="0" tIns="0" rIns="0" bIns="0" rtlCol="0" anchor="t"/>
          <a:lstStyle/>
          <a:p>
            <a:pPr indent="0" marL="0">
              <a:buNone/>
            </a:pPr>
            <a:r>
              <a:rPr lang="en-US" sz="1400" b="1" dirty="0">
                <a:solidFill>
                  <a:schemeClr val="tx1"/>
                </a:solidFill>
              </a:rPr>
              <a:t>Zero training data</a:t>
            </a:r>
            <a:endParaRPr lang="en-US" sz="1400" dirty="0"/>
          </a:p>
        </p:txBody>
      </p:sp>
      <p:sp>
        <p:nvSpPr>
          <p:cNvPr id="17" name="Text 14"/>
          <p:cNvSpPr txBox="1"/>
          <p:nvPr/>
        </p:nvSpPr>
        <p:spPr>
          <a:xfrm>
            <a:off x="713232" y="5989320"/>
            <a:ext cx="2015886" cy="22860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works day one</a:t>
            </a:r>
            <a:endParaRPr lang="en-US" sz="1000" dirty="0"/>
          </a:p>
        </p:txBody>
      </p:sp>
      <p:sp>
        <p:nvSpPr>
          <p:cNvPr id="18" name="Text 15"/>
          <p:cNvSpPr txBox="1"/>
          <p:nvPr/>
        </p:nvSpPr>
        <p:spPr>
          <a:xfrm>
            <a:off x="2866278" y="5687568"/>
            <a:ext cx="2015886" cy="274320"/>
          </a:xfrm>
          <a:prstGeom prst="rect">
            <a:avLst/>
          </a:prstGeom>
          <a:noFill/>
          <a:ln/>
        </p:spPr>
        <p:txBody>
          <a:bodyPr wrap="square" lIns="0" tIns="0" rIns="0" bIns="0" rtlCol="0" anchor="t"/>
          <a:lstStyle/>
          <a:p>
            <a:pPr indent="0" marL="0">
              <a:buNone/>
            </a:pPr>
            <a:r>
              <a:rPr lang="en-US" sz="1400" b="1" dirty="0">
                <a:solidFill>
                  <a:schemeClr val="tx1"/>
                </a:solidFill>
              </a:rPr>
              <a:t>Fully offline</a:t>
            </a:r>
            <a:endParaRPr lang="en-US" sz="1400" dirty="0"/>
          </a:p>
        </p:txBody>
      </p:sp>
      <p:sp>
        <p:nvSpPr>
          <p:cNvPr id="19" name="Text 16"/>
          <p:cNvSpPr txBox="1"/>
          <p:nvPr/>
        </p:nvSpPr>
        <p:spPr>
          <a:xfrm>
            <a:off x="2866278" y="5989320"/>
            <a:ext cx="2015886" cy="22860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runs on a laptop</a:t>
            </a:r>
            <a:endParaRPr lang="en-US" sz="1000" dirty="0"/>
          </a:p>
        </p:txBody>
      </p:sp>
      <p:sp>
        <p:nvSpPr>
          <p:cNvPr id="20" name="Text 17"/>
          <p:cNvSpPr txBox="1"/>
          <p:nvPr/>
        </p:nvSpPr>
        <p:spPr>
          <a:xfrm>
            <a:off x="5019324" y="5687568"/>
            <a:ext cx="2015886" cy="274320"/>
          </a:xfrm>
          <a:prstGeom prst="rect">
            <a:avLst/>
          </a:prstGeom>
          <a:noFill/>
          <a:ln/>
        </p:spPr>
        <p:txBody>
          <a:bodyPr wrap="square" lIns="0" tIns="0" rIns="0" bIns="0" rtlCol="0" anchor="t"/>
          <a:lstStyle/>
          <a:p>
            <a:pPr indent="0" marL="0">
              <a:buNone/>
            </a:pPr>
            <a:r>
              <a:rPr lang="en-US" sz="1400" b="1" dirty="0">
                <a:solidFill>
                  <a:schemeClr val="tx1"/>
                </a:solidFill>
              </a:rPr>
              <a:t>Deterministic</a:t>
            </a:r>
            <a:endParaRPr lang="en-US" sz="1400" dirty="0"/>
          </a:p>
        </p:txBody>
      </p:sp>
      <p:sp>
        <p:nvSpPr>
          <p:cNvPr id="21" name="Text 18"/>
          <p:cNvSpPr txBox="1"/>
          <p:nvPr/>
        </p:nvSpPr>
        <p:spPr>
          <a:xfrm>
            <a:off x="5019324" y="5989320"/>
            <a:ext cx="2015886" cy="22860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same seed = same run</a:t>
            </a:r>
            <a:endParaRPr lang="en-US" sz="1000" dirty="0"/>
          </a:p>
        </p:txBody>
      </p:sp>
      <p:sp>
        <p:nvSpPr>
          <p:cNvPr id="22" name="Text 19"/>
          <p:cNvSpPr txBox="1"/>
          <p:nvPr/>
        </p:nvSpPr>
        <p:spPr>
          <a:xfrm>
            <a:off x="7172371" y="5687568"/>
            <a:ext cx="2015886" cy="274320"/>
          </a:xfrm>
          <a:prstGeom prst="rect">
            <a:avLst/>
          </a:prstGeom>
          <a:noFill/>
          <a:ln/>
        </p:spPr>
        <p:txBody>
          <a:bodyPr wrap="square" lIns="0" tIns="0" rIns="0" bIns="0" rtlCol="0" anchor="t"/>
          <a:lstStyle/>
          <a:p>
            <a:pPr indent="0" marL="0">
              <a:buNone/>
            </a:pPr>
            <a:r>
              <a:rPr lang="en-US" sz="1400" b="1" dirty="0">
                <a:solidFill>
                  <a:schemeClr val="tx1"/>
                </a:solidFill>
              </a:rPr>
              <a:t>Explainable</a:t>
            </a:r>
            <a:endParaRPr lang="en-US" sz="1400" dirty="0"/>
          </a:p>
        </p:txBody>
      </p:sp>
      <p:sp>
        <p:nvSpPr>
          <p:cNvPr id="23" name="Text 20"/>
          <p:cNvSpPr txBox="1"/>
          <p:nvPr/>
        </p:nvSpPr>
        <p:spPr>
          <a:xfrm>
            <a:off x="7172371" y="5989320"/>
            <a:ext cx="2015886" cy="22860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every decision is a rule</a:t>
            </a:r>
            <a:endParaRPr lang="en-US" sz="1000" dirty="0"/>
          </a:p>
        </p:txBody>
      </p:sp>
      <p:sp>
        <p:nvSpPr>
          <p:cNvPr id="24" name="Text 21"/>
          <p:cNvSpPr txBox="1"/>
          <p:nvPr/>
        </p:nvSpPr>
        <p:spPr>
          <a:xfrm>
            <a:off x="9325417" y="5687568"/>
            <a:ext cx="2015886" cy="274320"/>
          </a:xfrm>
          <a:prstGeom prst="rect">
            <a:avLst/>
          </a:prstGeom>
          <a:noFill/>
          <a:ln/>
        </p:spPr>
        <p:txBody>
          <a:bodyPr wrap="square" lIns="0" tIns="0" rIns="0" bIns="0" rtlCol="0" anchor="t"/>
          <a:lstStyle/>
          <a:p>
            <a:pPr indent="0" marL="0">
              <a:buNone/>
            </a:pPr>
            <a:r>
              <a:rPr lang="en-US" sz="1400" b="1" dirty="0">
                <a:solidFill>
                  <a:schemeClr val="tx1"/>
                </a:solidFill>
              </a:rPr>
              <a:t>Cheap</a:t>
            </a:r>
            <a:endParaRPr lang="en-US" sz="1400" dirty="0"/>
          </a:p>
        </p:txBody>
      </p:sp>
      <p:sp>
        <p:nvSpPr>
          <p:cNvPr id="25" name="Text 22"/>
          <p:cNvSpPr txBox="1"/>
          <p:nvPr/>
        </p:nvSpPr>
        <p:spPr>
          <a:xfrm>
            <a:off x="9325417" y="5989320"/>
            <a:ext cx="2015886" cy="22860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~$0.04/h compute</a:t>
            </a:r>
            <a:endParaRPr lang="en-US" sz="1000" dirty="0"/>
          </a:p>
        </p:txBody>
      </p:sp>
      <p:sp>
        <p:nvSpPr>
          <p:cNvPr id="25" name="Slide Number Placeholder 0"/>
          <p:cNvSpPr>
            <a:spLocks noGrp="1"/>
          </p:cNvSpPr>
          <p:nvPr>
            <p:ph type="sldNum" sz="quarter" idx="4294967295"/>
          </p:nvPr>
        </p:nvSpPr>
        <p:spPr>
          <a:xfrm>
            <a:off x="713232" y="786384"/>
            <a:ext cx="54864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1"/>
                </a:solidFill>
                <a:latin typeface="Consolas"/>
                <a:ea typeface="Consolas"/>
                <a:cs typeface="Consolas"/>
              </a:defRPr>
            </a:lvl1pPr>
          </a:lstStyle>
          <a:p>
            <a:pPr algn="l"/>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1472184" y="786384"/>
            <a:ext cx="6583680" cy="292608"/>
          </a:xfrm>
          <a:prstGeom prst="rect">
            <a:avLst/>
          </a:prstGeom>
          <a:noFill/>
          <a:ln/>
        </p:spPr>
        <p:txBody>
          <a:bodyPr wrap="square" lIns="0" tIns="0" rIns="0" bIns="0" rtlCol="0" anchor="ctr"/>
          <a:lstStyle/>
          <a:p>
            <a:pPr indent="0" marL="0">
              <a:buNone/>
            </a:pPr>
            <a:r>
              <a:rPr lang="en-US" sz="1100" spc="100" kern="0" dirty="0">
                <a:solidFill>
                  <a:schemeClr val="tx2"/>
                </a:solidFill>
                <a:latin typeface="Consolas" pitchFamily="34" charset="0"/>
                <a:ea typeface="Consolas" pitchFamily="34" charset="-122"/>
                <a:cs typeface="Consolas" pitchFamily="34" charset="-120"/>
              </a:rPr>
              <a:t>PROOF · PLANTED-BUG TEST LEVEL</a:t>
            </a:r>
            <a:endParaRPr lang="en-US" sz="1100" dirty="0"/>
          </a:p>
        </p:txBody>
      </p:sp>
      <p:sp>
        <p:nvSpPr>
          <p:cNvPr id="3" name="Text 1"/>
          <p:cNvSpPr/>
          <p:nvPr>
            <p:ph idx="102" type="body" hasCustomPrompt="1"/>
          </p:nvPr>
        </p:nvSpPr>
        <p:spPr>
          <a:xfrm>
            <a:off x="6400800" y="786384"/>
            <a:ext cx="5077663" cy="292608"/>
          </a:xfrm>
          <a:prstGeom prst="rect">
            <a:avLst/>
          </a:prstGeom>
          <a:noFill/>
          <a:ln/>
        </p:spPr>
        <p:txBody>
          <a:bodyPr wrap="square" lIns="0" tIns="0" rIns="0" bIns="0" rtlCol="0" anchor="ctr"/>
          <a:lstStyle/>
          <a:p>
            <a:pPr algn="r" indent="0" marL="0">
              <a:buNone/>
            </a:pPr>
            <a:r>
              <a:rPr lang="en-US" sz="1100" dirty="0">
                <a:solidFill>
                  <a:schemeClr val="tx2"/>
                </a:solidFill>
                <a:latin typeface="Consolas" pitchFamily="34" charset="0"/>
                <a:ea typeface="Consolas" pitchFamily="34" charset="-122"/>
                <a:cs typeface="Consolas" pitchFamily="34" charset="-120"/>
              </a:rPr>
              <a:t>800 × 600 px · seed 42</a:t>
            </a:r>
            <a:endParaRPr lang="en-US" sz="1100" dirty="0"/>
          </a:p>
        </p:txBody>
      </p:sp>
      <p:sp>
        <p:nvSpPr>
          <p:cNvPr id="5" name="Text 1"/>
          <p:cNvSpPr/>
          <p:nvPr>
            <p:ph idx="103" type="title" hasCustomPrompt="1"/>
          </p:nvPr>
        </p:nvSpPr>
        <p:spPr>
          <a:xfrm>
            <a:off x="713232" y="1325880"/>
            <a:ext cx="10765231" cy="1280160"/>
          </a:xfrm>
          <a:prstGeom prst="rect">
            <a:avLst/>
          </a:prstGeom>
          <a:noFill/>
          <a:ln/>
        </p:spPr>
        <p:txBody>
          <a:bodyPr wrap="square" lIns="0" tIns="0" rIns="0" bIns="0" rtlCol="0" anchor="t"/>
          <a:lstStyle/>
          <a:p>
            <a:pPr algn="l" indent="0" marL="0">
              <a:lnSpc>
                <a:spcPct val="92000"/>
              </a:lnSpc>
              <a:buNone/>
            </a:pPr>
            <a:r>
              <a:rPr lang="en-US" sz="4400" b="1" dirty="0">
                <a:solidFill>
                  <a:schemeClr val="tx1"/>
                </a:solidFill>
              </a:rPr>
              <a:t>We planted 3 bugs. The bot found them on its own</a:t>
            </a:r>
            <a:endParaRPr lang="en-US" sz="4400" dirty="0"/>
          </a:p>
        </p:txBody>
      </p:sp>
      <p:graphicFrame>
        <p:nvGraphicFramePr>
          <p:cNvPr id="6" name="Planted bug table"/>
          <p:cNvGraphicFramePr>
            <a:graphicFrameLocks noGrp="1"/>
          </p:cNvGraphicFramePr>
          <p:nvPr>
            <p:extLst>
              <p:ext uri="{D42A27DB-BD31-4B8C-83A1-F6EECF244321}">
                <p14:modId xmlns:p14="http://schemas.microsoft.com/office/powerpoint/2010/main" val="1579011935"/>
              </p:ext>
            </p:extLst>
          </p:nvPr>
        </p:nvGraphicFramePr>
        <p:xfrm>
          <a:off x="713232" y="2743200"/>
          <a:ext cx="6400800" cy="914400"/>
        </p:xfrm>
        <a:graphic>
          <a:graphicData uri="http://schemas.openxmlformats.org/drawingml/2006/table">
            <a:tbl>
              <a:tblPr/>
              <a:tblGrid>
                <a:gridCol w="2057400"/>
                <a:gridCol w="3611880"/>
                <a:gridCol w="731520"/>
              </a:tblGrid>
              <a:tr h="292608">
                <a:tc>
                  <a:txBody>
                    <a:bodyPr/>
                    <a:lstStyle/>
                    <a:p>
                      <a:pPr indent="0" marL="0">
                        <a:buNone/>
                      </a:pPr>
                      <a:r>
                        <a:rPr lang="en-US" sz="900" spc="100" kern="0" dirty="0">
                          <a:solidFill>
                            <a:schemeClr val="tx2"/>
                          </a:solidFill>
                          <a:latin typeface="Consolas" pitchFamily="34" charset="0"/>
                          <a:ea typeface="Consolas" pitchFamily="34" charset="-122"/>
                          <a:cs typeface="Consolas" pitchFamily="34" charset="-120"/>
                        </a:rPr>
                        <a:t>PLANTED BUG</a:t>
                      </a:r>
                      <a:endParaRPr lang="en-US" sz="900" dirty="0">
                        <a:latin typeface="Consolas" charset="0"/>
                        <a:ea typeface="Consolas" charset="0"/>
                        <a:cs typeface="Consolas" charset="0"/>
                      </a:endParaRPr>
                    </a:p>
                  </a:txBody>
                  <a:tcPr marL="0" marR="76200" marT="50800" marB="50800" anchor="ctr">
                    <a:lnL w="0" cap="flat" cmpd="sng" algn="ctr">
                      <a:noFill/>
                    </a:lnL>
                    <a:lnR w="0" cap="flat" cmpd="sng" algn="ctr">
                      <a:noFill/>
                    </a:lnR>
                    <a:lnT w="0" cap="flat" cmpd="sng" algn="ctr">
                      <a:noFill/>
                    </a:lnT>
                    <a:lnB w="19050" cap="flat" cmpd="sng" algn="ctr">
                      <a:solidFill>
                        <a:schemeClr val="tx1"/>
                      </a:solidFill>
                      <a:prstDash val="solid"/>
                      <a:round/>
                      <a:headEnd type="none" w="med" len="med"/>
                      <a:tailEnd type="none" w="med" len="med"/>
                    </a:lnB>
                  </a:tcPr>
                </a:tc>
                <a:tc>
                  <a:txBody>
                    <a:bodyPr/>
                    <a:lstStyle/>
                    <a:p>
                      <a:pPr indent="0" marL="0">
                        <a:buNone/>
                      </a:pPr>
                      <a:r>
                        <a:rPr lang="en-US" sz="900" spc="100" kern="0" dirty="0">
                          <a:solidFill>
                            <a:schemeClr val="tx2"/>
                          </a:solidFill>
                          <a:latin typeface="Consolas" pitchFamily="34" charset="0"/>
                          <a:ea typeface="Consolas" pitchFamily="34" charset="-122"/>
                          <a:cs typeface="Consolas" pitchFamily="34" charset="-120"/>
                        </a:rPr>
                        <a:t>DETECTION SIGNATURE</a:t>
                      </a:r>
                      <a:endParaRPr lang="en-US" sz="900" dirty="0">
                        <a:latin typeface="Consolas" charset="0"/>
                        <a:ea typeface="Consolas" charset="0"/>
                        <a:cs typeface="Consolas" charset="0"/>
                      </a:endParaRPr>
                    </a:p>
                  </a:txBody>
                  <a:tcPr marL="0" marR="76200" marT="50800" marB="50800" anchor="ctr">
                    <a:lnL w="0" cap="flat" cmpd="sng" algn="ctr">
                      <a:noFill/>
                    </a:lnL>
                    <a:lnR w="0" cap="flat" cmpd="sng" algn="ctr">
                      <a:noFill/>
                    </a:lnR>
                    <a:lnT w="0" cap="flat" cmpd="sng" algn="ctr">
                      <a:noFill/>
                    </a:lnT>
                    <a:lnB w="19050" cap="flat" cmpd="sng" algn="ctr">
                      <a:solidFill>
                        <a:schemeClr val="tx1"/>
                      </a:solidFill>
                      <a:prstDash val="solid"/>
                      <a:round/>
                      <a:headEnd type="none" w="med" len="med"/>
                      <a:tailEnd type="none" w="med" len="med"/>
                    </a:lnB>
                  </a:tcPr>
                </a:tc>
                <a:tc>
                  <a:txBody>
                    <a:bodyPr/>
                    <a:lstStyle/>
                    <a:p>
                      <a:pPr indent="0" marL="0">
                        <a:buNone/>
                      </a:pPr>
                      <a:r>
                        <a:rPr lang="en-US" sz="900" spc="100" kern="0" dirty="0">
                          <a:solidFill>
                            <a:schemeClr val="tx2"/>
                          </a:solidFill>
                          <a:latin typeface="Consolas" pitchFamily="34" charset="0"/>
                          <a:ea typeface="Consolas" pitchFamily="34" charset="-122"/>
                          <a:cs typeface="Consolas" pitchFamily="34" charset="-120"/>
                        </a:rPr>
                        <a:t>HITS</a:t>
                      </a:r>
                      <a:endParaRPr lang="en-US" sz="900" dirty="0">
                        <a:latin typeface="Consolas" charset="0"/>
                        <a:ea typeface="Consolas" charset="0"/>
                        <a:cs typeface="Consolas" charset="0"/>
                      </a:endParaRPr>
                    </a:p>
                  </a:txBody>
                  <a:tcPr marL="0" marR="76200" marT="50800" marB="50800" anchor="ctr">
                    <a:lnL w="0" cap="flat" cmpd="sng" algn="ctr">
                      <a:noFill/>
                    </a:lnL>
                    <a:lnR w="0" cap="flat" cmpd="sng" algn="ctr">
                      <a:noFill/>
                    </a:lnR>
                    <a:lnT w="0" cap="flat" cmpd="sng" algn="ctr">
                      <a:noFill/>
                    </a:lnT>
                    <a:lnB w="19050" cap="flat" cmpd="sng" algn="ctr">
                      <a:solidFill>
                        <a:schemeClr val="tx1"/>
                      </a:solidFill>
                      <a:prstDash val="solid"/>
                      <a:round/>
                      <a:headEnd type="none" w="med" len="med"/>
                      <a:tailEnd type="none" w="med" len="med"/>
                    </a:lnB>
                  </a:tcPr>
                </a:tc>
              </a:tr>
              <a:tr h="603504">
                <a:tc>
                  <a:txBody>
                    <a:bodyPr/>
                    <a:lstStyle/>
                    <a:p>
                      <a:pPr indent="0" marL="0">
                        <a:buNone/>
                      </a:pPr>
                      <a:r>
                        <a:rPr lang="en-US" sz="1400" b="1" dirty="0">
                          <a:solidFill>
                            <a:schemeClr val="tx1"/>
                          </a:solidFill>
                        </a:rPr>
                        <a:t>Wall Clip</a:t>
                      </a:r>
                      <a:endParaRPr lang="en-US" sz="1400" dirty="0"/>
                    </a:p>
                    <a:p>
                      <a:pPr indent="0" marL="0">
                        <a:buNone/>
                      </a:pPr>
                      <a:r>
                        <a:rPr lang="en-US" sz="1200" dirty="0">
                          <a:solidFill>
                            <a:schemeClr val="tx2"/>
                          </a:solidFill>
                        </a:rPr>
                        <a:t>2-px seam in the right wall</a:t>
                      </a:r>
                      <a:endParaRPr lang="en-US" sz="1400" dirty="0"/>
                    </a:p>
                  </a:txBody>
                  <a:tcPr marL="0" marR="76200" marT="50800" marB="508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tcPr>
                </a:tc>
                <a:tc>
                  <a:txBody>
                    <a:bodyPr/>
                    <a:lstStyle/>
                    <a:p>
                      <a:pPr indent="0" marL="0">
                        <a:buNone/>
                      </a:pPr>
                      <a:r>
                        <a:rPr lang="en-US" sz="1400" dirty="0">
                          <a:solidFill>
                            <a:schemeClr val="tx1"/>
                          </a:solidFill>
                        </a:rPr>
                        <a:t>&gt; 25 px in one frame while colliding</a:t>
                      </a:r>
                      <a:endParaRPr lang="en-US" sz="1400" dirty="0"/>
                    </a:p>
                  </a:txBody>
                  <a:tcPr marL="0" marR="76200" marT="50800" marB="508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tcPr>
                </a:tc>
                <a:tc>
                  <a:txBody>
                    <a:bodyPr/>
                    <a:lstStyle/>
                    <a:p>
                      <a:pPr indent="0" marL="0">
                        <a:buNone/>
                      </a:pPr>
                      <a:r>
                        <a:rPr lang="en-US" sz="2000" b="1" dirty="0">
                          <a:solidFill>
                            <a:schemeClr val="accent1"/>
                          </a:solidFill>
                          <a:latin typeface="Consolas" pitchFamily="34" charset="0"/>
                          <a:ea typeface="Consolas" pitchFamily="34" charset="-122"/>
                          <a:cs typeface="Consolas" pitchFamily="34" charset="-120"/>
                        </a:rPr>
                        <a:t>22</a:t>
                      </a:r>
                      <a:endParaRPr lang="en-US" sz="2000" dirty="0">
                        <a:latin typeface="Consolas" charset="0"/>
                        <a:ea typeface="Consolas" charset="0"/>
                        <a:cs typeface="Consolas" charset="0"/>
                      </a:endParaRPr>
                    </a:p>
                  </a:txBody>
                  <a:tcPr marL="0" marR="76200" marT="50800" marB="508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tcPr>
                </a:tc>
              </a:tr>
              <a:tr h="603504">
                <a:tc>
                  <a:txBody>
                    <a:bodyPr/>
                    <a:lstStyle/>
                    <a:p>
                      <a:pPr indent="0" marL="0">
                        <a:buNone/>
                      </a:pPr>
                      <a:r>
                        <a:rPr lang="en-US" sz="1400" b="1" dirty="0">
                          <a:solidFill>
                            <a:schemeClr val="tx1"/>
                          </a:solidFill>
                        </a:rPr>
                        <a:t>Infinite Fall</a:t>
                      </a:r>
                      <a:endParaRPr lang="en-US" sz="1400" dirty="0"/>
                    </a:p>
                    <a:p>
                      <a:pPr indent="0" marL="0">
                        <a:buNone/>
                      </a:pPr>
                      <a:r>
                        <a:rPr lang="en-US" sz="1200" dirty="0">
                          <a:solidFill>
                            <a:schemeClr val="tx2"/>
                          </a:solidFill>
                        </a:rPr>
                        <a:t>hole with no bottom, no reset</a:t>
                      </a:r>
                      <a:endParaRPr lang="en-US" sz="1400" dirty="0"/>
                    </a:p>
                  </a:txBody>
                  <a:tcPr marL="0" marR="76200" marT="50800" marB="508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tcPr>
                </a:tc>
                <a:tc>
                  <a:txBody>
                    <a:bodyPr/>
                    <a:lstStyle/>
                    <a:p>
                      <a:pPr indent="0" marL="0">
                        <a:buNone/>
                      </a:pPr>
                      <a:r>
                        <a:rPr lang="en-US" sz="1400" dirty="0">
                          <a:solidFill>
                            <a:schemeClr val="tx1"/>
                          </a:solidFill>
                        </a:rPr>
                        <a:t>&gt; 120 frames falling, touching nothing</a:t>
                      </a:r>
                      <a:endParaRPr lang="en-US" sz="1400" dirty="0"/>
                    </a:p>
                  </a:txBody>
                  <a:tcPr marL="0" marR="76200" marT="50800" marB="508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tcPr>
                </a:tc>
                <a:tc>
                  <a:txBody>
                    <a:bodyPr/>
                    <a:lstStyle/>
                    <a:p>
                      <a:pPr indent="0" marL="0">
                        <a:buNone/>
                      </a:pPr>
                      <a:r>
                        <a:rPr lang="en-US" sz="2000" b="1" dirty="0">
                          <a:solidFill>
                            <a:schemeClr val="accent1"/>
                          </a:solidFill>
                          <a:latin typeface="Consolas" pitchFamily="34" charset="0"/>
                          <a:ea typeface="Consolas" pitchFamily="34" charset="-122"/>
                          <a:cs typeface="Consolas" pitchFamily="34" charset="-120"/>
                        </a:rPr>
                        <a:t>48</a:t>
                      </a:r>
                      <a:endParaRPr lang="en-US" sz="2000" dirty="0">
                        <a:latin typeface="Consolas" charset="0"/>
                        <a:ea typeface="Consolas" charset="0"/>
                        <a:cs typeface="Consolas" charset="0"/>
                      </a:endParaRPr>
                    </a:p>
                  </a:txBody>
                  <a:tcPr marL="0" marR="76200" marT="50800" marB="508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tcPr>
                </a:tc>
              </a:tr>
              <a:tr h="603504">
                <a:tc>
                  <a:txBody>
                    <a:bodyPr/>
                    <a:lstStyle/>
                    <a:p>
                      <a:pPr indent="0" marL="0">
                        <a:buNone/>
                      </a:pPr>
                      <a:r>
                        <a:rPr lang="en-US" sz="1400" b="1" dirty="0">
                          <a:solidFill>
                            <a:schemeClr val="tx1"/>
                          </a:solidFill>
                        </a:rPr>
                        <a:t>Softlock Pit</a:t>
                      </a:r>
                      <a:endParaRPr lang="en-US" sz="1400" dirty="0"/>
                    </a:p>
                    <a:p>
                      <a:pPr indent="0" marL="0">
                        <a:buNone/>
                      </a:pPr>
                      <a:r>
                        <a:rPr lang="en-US" sz="1200" dirty="0">
                          <a:solidFill>
                            <a:schemeClr val="tx2"/>
                          </a:solidFill>
                        </a:rPr>
                        <a:t>150 px deep, jump is 100 px</a:t>
                      </a:r>
                      <a:endParaRPr lang="en-US" sz="1400" dirty="0"/>
                    </a:p>
                  </a:txBody>
                  <a:tcPr marL="0" marR="76200" marT="50800" marB="508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tcPr>
                </a:tc>
                <a:tc>
                  <a:txBody>
                    <a:bodyPr/>
                    <a:lstStyle/>
                    <a:p>
                      <a:pPr indent="0" marL="0">
                        <a:buNone/>
                      </a:pPr>
                      <a:r>
                        <a:rPr lang="en-US" sz="1400" dirty="0">
                          <a:solidFill>
                            <a:schemeClr val="tx1"/>
                          </a:solidFill>
                        </a:rPr>
                        <a:t>buttons held &gt; 300 frames, moved &lt; 5 px</a:t>
                      </a:r>
                      <a:endParaRPr lang="en-US" sz="1400" dirty="0"/>
                    </a:p>
                  </a:txBody>
                  <a:tcPr marL="0" marR="76200" marT="50800" marB="508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tcPr>
                </a:tc>
                <a:tc>
                  <a:txBody>
                    <a:bodyPr/>
                    <a:lstStyle/>
                    <a:p>
                      <a:pPr indent="0" marL="0">
                        <a:buNone/>
                      </a:pPr>
                      <a:r>
                        <a:rPr lang="en-US" sz="2000" b="1" dirty="0">
                          <a:solidFill>
                            <a:schemeClr val="accent1"/>
                          </a:solidFill>
                          <a:latin typeface="Consolas" pitchFamily="34" charset="0"/>
                          <a:ea typeface="Consolas" pitchFamily="34" charset="-122"/>
                          <a:cs typeface="Consolas" pitchFamily="34" charset="-120"/>
                        </a:rPr>
                        <a:t>16</a:t>
                      </a:r>
                      <a:endParaRPr lang="en-US" sz="2000" dirty="0">
                        <a:latin typeface="Consolas" charset="0"/>
                        <a:ea typeface="Consolas" charset="0"/>
                        <a:cs typeface="Consolas" charset="0"/>
                      </a:endParaRPr>
                    </a:p>
                  </a:txBody>
                  <a:tcPr marL="0" marR="76200" marT="50800" marB="508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tcPr>
                </a:tc>
              </a:tr>
              <a:tr h="457200">
                <a:tc>
                  <a:txBody>
                    <a:bodyPr/>
                    <a:lstStyle/>
                    <a:p>
                      <a:pPr indent="0" marL="0">
                        <a:buNone/>
                      </a:pPr>
                      <a:r>
                        <a:rPr lang="en-US" sz="1400" b="1" dirty="0">
                          <a:solidFill>
                            <a:schemeClr val="tx1"/>
                          </a:solidFill>
                        </a:rPr>
                        <a:t>Out of Bounds</a:t>
                      </a:r>
                      <a:endParaRPr lang="en-US" sz="1400" dirty="0"/>
                    </a:p>
                  </a:txBody>
                  <a:tcPr marL="0" marR="76200" marT="50800" marB="508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tcPr>
                </a:tc>
                <a:tc>
                  <a:txBody>
                    <a:bodyPr/>
                    <a:lstStyle/>
                    <a:p>
                      <a:pPr indent="0" marL="0">
                        <a:buNone/>
                      </a:pPr>
                      <a:r>
                        <a:rPr lang="en-US" sz="1400" dirty="0">
                          <a:solidFill>
                            <a:schemeClr val="tx1"/>
                          </a:solidFill>
                        </a:rPr>
                        <a:t>position outside the map</a:t>
                      </a:r>
                      <a:endParaRPr lang="en-US" sz="1400" dirty="0"/>
                    </a:p>
                  </a:txBody>
                  <a:tcPr marL="0" marR="76200" marT="50800" marB="508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tcPr>
                </a:tc>
                <a:tc>
                  <a:txBody>
                    <a:bodyPr/>
                    <a:lstStyle/>
                    <a:p>
                      <a:pPr indent="0" marL="0">
                        <a:buNone/>
                      </a:pPr>
                      <a:r>
                        <a:rPr lang="en-US" sz="2000" b="1" dirty="0">
                          <a:solidFill>
                            <a:schemeClr val="tx2"/>
                          </a:solidFill>
                          <a:latin typeface="Consolas" pitchFamily="34" charset="0"/>
                          <a:ea typeface="Consolas" pitchFamily="34" charset="-122"/>
                          <a:cs typeface="Consolas" pitchFamily="34" charset="-120"/>
                        </a:rPr>
                        <a:t>—</a:t>
                      </a:r>
                      <a:endParaRPr lang="en-US" sz="2000" dirty="0">
                        <a:latin typeface="Consolas" charset="0"/>
                        <a:ea typeface="Consolas" charset="0"/>
                        <a:cs typeface="Consolas" charset="0"/>
                      </a:endParaRPr>
                    </a:p>
                  </a:txBody>
                  <a:tcPr marL="0" marR="76200" marT="50800" marB="508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tcPr>
                </a:tc>
              </a:tr>
            </a:tbl>
          </a:graphicData>
        </a:graphic>
      </p:graphicFrame>
      <p:pic>
        <p:nvPicPr>
          <p:cNvPr id="7" name="Level map" descr="IndieQA test level map with the three planted bugs">    </p:cNvPr>
          <p:cNvPicPr>
            <a:picLocks noChangeAspect="1"/>
          </p:cNvPicPr>
          <p:nvPr/>
        </p:nvPicPr>
        <p:blipFill>
          <a:blip r:embed="rId1"/>
          <a:stretch>
            <a:fillRect/>
          </a:stretch>
        </p:blipFill>
        <p:spPr>
          <a:xfrm>
            <a:off x="7644384" y="2743200"/>
            <a:ext cx="3840480" cy="2880360"/>
          </a:xfrm>
          <a:prstGeom prst="rect">
            <a:avLst/>
          </a:prstGeom>
        </p:spPr>
      </p:pic>
      <p:sp>
        <p:nvSpPr>
          <p:cNvPr id="8" name="Shape 3"/>
          <p:cNvSpPr/>
          <p:nvPr/>
        </p:nvSpPr>
        <p:spPr>
          <a:xfrm>
            <a:off x="7644384" y="2743200"/>
            <a:ext cx="3840480" cy="2880360"/>
          </a:xfrm>
          <a:prstGeom prst="rect">
            <a:avLst/>
          </a:prstGeom>
          <a:ln w="9525">
            <a:solidFill>
              <a:schemeClr val="tx1"/>
            </a:solidFill>
            <a:prstDash val="solid"/>
          </a:ln>
        </p:spPr>
      </p:sp>
      <p:sp>
        <p:nvSpPr>
          <p:cNvPr id="9" name="Shape 4"/>
          <p:cNvSpPr/>
          <p:nvPr/>
        </p:nvSpPr>
        <p:spPr>
          <a:xfrm>
            <a:off x="713232" y="5788152"/>
            <a:ext cx="10765231" cy="0"/>
          </a:xfrm>
          <a:prstGeom prst="line">
            <a:avLst/>
          </a:prstGeom>
          <a:noFill/>
          <a:ln w="19050">
            <a:solidFill>
              <a:schemeClr val="tx1"/>
            </a:solidFill>
            <a:prstDash val="solid"/>
          </a:ln>
        </p:spPr>
      </p:sp>
      <p:sp>
        <p:nvSpPr>
          <p:cNvPr id="10" name="Text 5"/>
          <p:cNvSpPr txBox="1"/>
          <p:nvPr/>
        </p:nvSpPr>
        <p:spPr>
          <a:xfrm>
            <a:off x="713232" y="5852160"/>
            <a:ext cx="2599868" cy="502920"/>
          </a:xfrm>
          <a:prstGeom prst="rect">
            <a:avLst/>
          </a:prstGeom>
          <a:noFill/>
          <a:ln/>
        </p:spPr>
        <p:txBody>
          <a:bodyPr wrap="square" lIns="0" tIns="0" rIns="0" bIns="0" rtlCol="0" anchor="t"/>
          <a:lstStyle/>
          <a:p>
            <a:pPr indent="0" marL="0">
              <a:buNone/>
            </a:pPr>
            <a:r>
              <a:rPr lang="en-US" sz="3000" b="1" spc="-100" kern="0" dirty="0">
                <a:solidFill>
                  <a:schemeClr val="tx1"/>
                </a:solidFill>
              </a:rPr>
              <a:t>36,000</a:t>
            </a:r>
            <a:endParaRPr lang="en-US" sz="3000" dirty="0"/>
          </a:p>
        </p:txBody>
      </p:sp>
      <p:sp>
        <p:nvSpPr>
          <p:cNvPr id="11" name="Text 6"/>
          <p:cNvSpPr txBox="1"/>
          <p:nvPr/>
        </p:nvSpPr>
        <p:spPr>
          <a:xfrm>
            <a:off x="713232" y="6355080"/>
            <a:ext cx="2599868" cy="22860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frames = 10 min of play</a:t>
            </a:r>
            <a:endParaRPr lang="en-US" sz="1000" dirty="0"/>
          </a:p>
        </p:txBody>
      </p:sp>
      <p:sp>
        <p:nvSpPr>
          <p:cNvPr id="12" name="Text 7"/>
          <p:cNvSpPr txBox="1"/>
          <p:nvPr/>
        </p:nvSpPr>
        <p:spPr>
          <a:xfrm>
            <a:off x="3404540" y="5852160"/>
            <a:ext cx="2599868" cy="502920"/>
          </a:xfrm>
          <a:prstGeom prst="rect">
            <a:avLst/>
          </a:prstGeom>
          <a:noFill/>
          <a:ln/>
        </p:spPr>
        <p:txBody>
          <a:bodyPr wrap="square" lIns="0" tIns="0" rIns="0" bIns="0" rtlCol="0" anchor="t"/>
          <a:lstStyle/>
          <a:p>
            <a:pPr indent="0" marL="0">
              <a:buNone/>
            </a:pPr>
            <a:r>
              <a:rPr lang="en-US" sz="3000" b="1" spc="-100" kern="0" dirty="0">
                <a:solidFill>
                  <a:schemeClr val="tx1"/>
                </a:solidFill>
              </a:rPr>
              <a:t>~2.5 s</a:t>
            </a:r>
            <a:endParaRPr lang="en-US" sz="3000" dirty="0"/>
          </a:p>
        </p:txBody>
      </p:sp>
      <p:sp>
        <p:nvSpPr>
          <p:cNvPr id="13" name="Text 8"/>
          <p:cNvSpPr txBox="1"/>
          <p:nvPr/>
        </p:nvSpPr>
        <p:spPr>
          <a:xfrm>
            <a:off x="3404540" y="6355080"/>
            <a:ext cx="2599868" cy="22860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headless → ~240× real time</a:t>
            </a:r>
            <a:endParaRPr lang="en-US" sz="1000" dirty="0"/>
          </a:p>
        </p:txBody>
      </p:sp>
      <p:sp>
        <p:nvSpPr>
          <p:cNvPr id="14" name="Text 9"/>
          <p:cNvSpPr txBox="1"/>
          <p:nvPr/>
        </p:nvSpPr>
        <p:spPr>
          <a:xfrm>
            <a:off x="6095848" y="5852160"/>
            <a:ext cx="2599868" cy="502920"/>
          </a:xfrm>
          <a:prstGeom prst="rect">
            <a:avLst/>
          </a:prstGeom>
          <a:noFill/>
          <a:ln/>
        </p:spPr>
        <p:txBody>
          <a:bodyPr wrap="square" lIns="0" tIns="0" rIns="0" bIns="0" rtlCol="0" anchor="t"/>
          <a:lstStyle/>
          <a:p>
            <a:pPr indent="0" marL="0">
              <a:buNone/>
            </a:pPr>
            <a:r>
              <a:rPr lang="en-US" sz="3000" b="1" spc="-100" kern="0" dirty="0">
                <a:solidFill>
                  <a:schemeClr val="tx1"/>
                </a:solidFill>
              </a:rPr>
              <a:t>65</a:t>
            </a:r>
            <a:endParaRPr lang="en-US" sz="3000" dirty="0"/>
          </a:p>
        </p:txBody>
      </p:sp>
      <p:sp>
        <p:nvSpPr>
          <p:cNvPr id="15" name="Text 10"/>
          <p:cNvSpPr txBox="1"/>
          <p:nvPr/>
        </p:nvSpPr>
        <p:spPr>
          <a:xfrm>
            <a:off x="6095848" y="6355080"/>
            <a:ext cx="2599868" cy="22860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episodes, unaided</a:t>
            </a:r>
            <a:endParaRPr lang="en-US" sz="1000" dirty="0"/>
          </a:p>
        </p:txBody>
      </p:sp>
      <p:sp>
        <p:nvSpPr>
          <p:cNvPr id="16" name="Text 11"/>
          <p:cNvSpPr txBox="1"/>
          <p:nvPr/>
        </p:nvSpPr>
        <p:spPr>
          <a:xfrm>
            <a:off x="8787155" y="5852160"/>
            <a:ext cx="2599868" cy="502920"/>
          </a:xfrm>
          <a:prstGeom prst="rect">
            <a:avLst/>
          </a:prstGeom>
          <a:noFill/>
          <a:ln/>
        </p:spPr>
        <p:txBody>
          <a:bodyPr wrap="square" lIns="0" tIns="0" rIns="0" bIns="0" rtlCol="0" anchor="t"/>
          <a:lstStyle/>
          <a:p>
            <a:pPr indent="0" marL="0">
              <a:buNone/>
            </a:pPr>
            <a:r>
              <a:rPr lang="en-US" sz="3000" b="1" spc="-100" kern="0" dirty="0">
                <a:solidFill>
                  <a:schemeClr val="tx1"/>
                </a:solidFill>
              </a:rPr>
              <a:t>7,200/7,200</a:t>
            </a:r>
            <a:endParaRPr lang="en-US" sz="3000" dirty="0"/>
          </a:p>
        </p:txBody>
      </p:sp>
      <p:sp>
        <p:nvSpPr>
          <p:cNvPr id="17" name="Text 12"/>
          <p:cNvSpPr txBox="1"/>
          <p:nvPr/>
        </p:nvSpPr>
        <p:spPr>
          <a:xfrm>
            <a:off x="8787155" y="6355080"/>
            <a:ext cx="2599868" cy="22860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identical frames, same seed</a:t>
            </a:r>
            <a:endParaRPr lang="en-US" sz="1000" dirty="0"/>
          </a:p>
        </p:txBody>
      </p:sp>
      <p:sp>
        <p:nvSpPr>
          <p:cNvPr id="25" name="Slide Number Placeholder 0"/>
          <p:cNvSpPr>
            <a:spLocks noGrp="1"/>
          </p:cNvSpPr>
          <p:nvPr>
            <p:ph type="sldNum" sz="quarter" idx="4294967295"/>
          </p:nvPr>
        </p:nvSpPr>
        <p:spPr>
          <a:xfrm>
            <a:off x="713232" y="786384"/>
            <a:ext cx="54864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1"/>
                </a:solidFill>
                <a:latin typeface="Consolas"/>
                <a:ea typeface="Consolas"/>
                <a:cs typeface="Consolas"/>
              </a:defRPr>
            </a:lvl1pPr>
          </a:lstStyle>
          <a:p>
            <a:pPr algn="l"/>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1472184" y="786384"/>
            <a:ext cx="6583680" cy="292608"/>
          </a:xfrm>
          <a:prstGeom prst="rect">
            <a:avLst/>
          </a:prstGeom>
          <a:noFill/>
          <a:ln/>
        </p:spPr>
        <p:txBody>
          <a:bodyPr wrap="square" lIns="0" tIns="0" rIns="0" bIns="0" rtlCol="0" anchor="ctr"/>
          <a:lstStyle/>
          <a:p>
            <a:pPr indent="0" marL="0">
              <a:buNone/>
            </a:pPr>
            <a:r>
              <a:rPr lang="en-US" sz="1100" spc="100" kern="0" dirty="0">
                <a:solidFill>
                  <a:schemeClr val="tx2"/>
                </a:solidFill>
                <a:latin typeface="Consolas" pitchFamily="34" charset="0"/>
                <a:ea typeface="Consolas" pitchFamily="34" charset="-122"/>
                <a:cs typeface="Consolas" pitchFamily="34" charset="-120"/>
              </a:rPr>
              <a:t>THE WEBSITE</a:t>
            </a:r>
            <a:endParaRPr lang="en-US" sz="1100" dirty="0"/>
          </a:p>
        </p:txBody>
      </p:sp>
      <p:sp>
        <p:nvSpPr>
          <p:cNvPr id="3" name="Text 1"/>
          <p:cNvSpPr/>
          <p:nvPr>
            <p:ph idx="102" type="body" hasCustomPrompt="1"/>
          </p:nvPr>
        </p:nvSpPr>
        <p:spPr>
          <a:xfrm>
            <a:off x="6400800" y="786384"/>
            <a:ext cx="5077663" cy="292608"/>
          </a:xfrm>
          <a:prstGeom prst="rect">
            <a:avLst/>
          </a:prstGeom>
          <a:noFill/>
          <a:ln/>
        </p:spPr>
        <p:txBody>
          <a:bodyPr wrap="square" lIns="0" tIns="0" rIns="0" bIns="0" rtlCol="0" anchor="ctr"/>
          <a:lstStyle/>
          <a:p>
            <a:pPr algn="r" indent="0" marL="0">
              <a:buNone/>
            </a:pPr>
            <a:r>
              <a:rPr lang="en-US" sz="1100" dirty="0">
                <a:solidFill>
                  <a:schemeClr val="tx2"/>
                </a:solidFill>
                <a:latin typeface="Consolas" pitchFamily="34" charset="0"/>
                <a:ea typeface="Consolas" pitchFamily="34" charset="-122"/>
                <a:cs typeface="Consolas" pitchFamily="34" charset="-120"/>
              </a:rPr>
              <a:t>Streamlit · localhost in your browser</a:t>
            </a:r>
            <a:endParaRPr lang="en-US" sz="1100" dirty="0"/>
          </a:p>
        </p:txBody>
      </p:sp>
      <p:sp>
        <p:nvSpPr>
          <p:cNvPr id="5" name="Text 1"/>
          <p:cNvSpPr/>
          <p:nvPr>
            <p:ph idx="103" type="title" hasCustomPrompt="1"/>
          </p:nvPr>
        </p:nvSpPr>
        <p:spPr>
          <a:xfrm>
            <a:off x="713232" y="1325880"/>
            <a:ext cx="10765231" cy="1280160"/>
          </a:xfrm>
          <a:prstGeom prst="rect">
            <a:avLst/>
          </a:prstGeom>
          <a:noFill/>
          <a:ln/>
        </p:spPr>
        <p:txBody>
          <a:bodyPr wrap="square" lIns="0" tIns="0" rIns="0" bIns="0" rtlCol="0" anchor="t"/>
          <a:lstStyle/>
          <a:p>
            <a:pPr algn="l" indent="0" marL="0">
              <a:lnSpc>
                <a:spcPct val="92000"/>
              </a:lnSpc>
              <a:buNone/>
            </a:pPr>
            <a:r>
              <a:rPr lang="en-US" sz="4400" b="1" dirty="0">
                <a:solidFill>
                  <a:schemeClr val="tx1"/>
                </a:solidFill>
              </a:rPr>
              <a:t>Every bug, where it happened, and how to replay it</a:t>
            </a:r>
            <a:endParaRPr lang="en-US" sz="4400" dirty="0"/>
          </a:p>
        </p:txBody>
      </p:sp>
      <p:sp>
        <p:nvSpPr>
          <p:cNvPr id="6" name="Screenshot placeholder 1"/>
          <p:cNvSpPr txBox="1"/>
          <p:nvPr/>
        </p:nvSpPr>
        <p:spPr>
          <a:xfrm>
            <a:off x="713232" y="2743200"/>
            <a:ext cx="4160520" cy="2286000"/>
          </a:xfrm>
          <a:prstGeom prst="rect">
            <a:avLst/>
          </a:prstGeom>
          <a:solidFill>
            <a:schemeClr val="bg2"/>
          </a:solidFill>
          <a:ln w="12700">
            <a:solidFill>
              <a:schemeClr val="tx2"/>
            </a:solidFill>
            <a:prstDash val="dash"/>
          </a:ln>
        </p:spPr>
        <p:txBody>
          <a:bodyPr wrap="square" rtlCol="0" anchor="ctr"/>
          <a:lstStyle/>
          <a:p>
            <a:pPr algn="ctr" indent="0" marL="0">
              <a:buNone/>
            </a:pPr>
            <a:r>
              <a:rPr lang="en-US" sz="1200" dirty="0">
                <a:solidFill>
                  <a:schemeClr val="tx2"/>
                </a:solidFill>
                <a:latin typeface="Consolas" pitchFamily="34" charset="0"/>
                <a:ea typeface="Consolas" pitchFamily="34" charset="-122"/>
                <a:cs typeface="Consolas" pitchFamily="34" charset="-120"/>
              </a:rPr>
              <a:t>[SCREENSHOT: dashboard overview]</a:t>
            </a:r>
            <a:endParaRPr lang="en-US" sz="1200" dirty="0"/>
          </a:p>
          <a:p>
            <a:pPr algn="ctr" indent="0" marL="0">
              <a:buNone/>
            </a:pPr>
            <a:r>
              <a:rPr lang="en-US" sz="1200" dirty="0">
                <a:solidFill>
                  <a:schemeClr val="tx2"/>
                </a:solidFill>
                <a:latin typeface="Consolas" pitchFamily="34" charset="0"/>
                <a:ea typeface="Consolas" pitchFamily="34" charset="-122"/>
                <a:cs typeface="Consolas" pitchFamily="34" charset="-120"/>
              </a:rPr>
              <a:t>header · time tested · frames · bugs · $25/h vs $0.04/h</a:t>
            </a:r>
            <a:endParaRPr lang="en-US" sz="1200" dirty="0"/>
          </a:p>
        </p:txBody>
      </p:sp>
      <p:sp>
        <p:nvSpPr>
          <p:cNvPr id="7" name="Screenshot placeholder 2"/>
          <p:cNvSpPr txBox="1"/>
          <p:nvPr/>
        </p:nvSpPr>
        <p:spPr>
          <a:xfrm>
            <a:off x="5148072" y="2743200"/>
            <a:ext cx="3291840" cy="2286000"/>
          </a:xfrm>
          <a:prstGeom prst="rect">
            <a:avLst/>
          </a:prstGeom>
          <a:solidFill>
            <a:schemeClr val="bg2"/>
          </a:solidFill>
          <a:ln w="12700">
            <a:solidFill>
              <a:schemeClr val="tx2"/>
            </a:solidFill>
            <a:prstDash val="dash"/>
          </a:ln>
        </p:spPr>
        <p:txBody>
          <a:bodyPr wrap="square" rtlCol="0" anchor="ctr"/>
          <a:lstStyle/>
          <a:p>
            <a:pPr algn="ctr" indent="0" marL="0">
              <a:buNone/>
            </a:pPr>
            <a:r>
              <a:rPr lang="en-US" sz="1200" dirty="0">
                <a:solidFill>
                  <a:schemeClr val="tx2"/>
                </a:solidFill>
                <a:latin typeface="Consolas" pitchFamily="34" charset="0"/>
                <a:ea typeface="Consolas" pitchFamily="34" charset="-122"/>
                <a:cs typeface="Consolas" pitchFamily="34" charset="-120"/>
              </a:rPr>
              <a:t>[SCREENSHOT: map with red bug markers]</a:t>
            </a:r>
            <a:endParaRPr lang="en-US" sz="1200" dirty="0"/>
          </a:p>
        </p:txBody>
      </p:sp>
      <p:sp>
        <p:nvSpPr>
          <p:cNvPr id="8" name="Screenshot placeholder 3"/>
          <p:cNvSpPr txBox="1"/>
          <p:nvPr/>
        </p:nvSpPr>
        <p:spPr>
          <a:xfrm>
            <a:off x="8668512" y="2743200"/>
            <a:ext cx="2816352" cy="2286000"/>
          </a:xfrm>
          <a:prstGeom prst="rect">
            <a:avLst/>
          </a:prstGeom>
          <a:solidFill>
            <a:schemeClr val="bg2"/>
          </a:solidFill>
          <a:ln w="12700">
            <a:solidFill>
              <a:schemeClr val="tx2"/>
            </a:solidFill>
            <a:prstDash val="dash"/>
          </a:ln>
        </p:spPr>
        <p:txBody>
          <a:bodyPr wrap="square" rtlCol="0" anchor="ctr"/>
          <a:lstStyle/>
          <a:p>
            <a:pPr algn="ctr" indent="0" marL="0">
              <a:buNone/>
            </a:pPr>
            <a:r>
              <a:rPr lang="en-US" sz="1200" dirty="0">
                <a:solidFill>
                  <a:schemeClr val="tx2"/>
                </a:solidFill>
                <a:latin typeface="Consolas" pitchFamily="34" charset="0"/>
                <a:ea typeface="Consolas" pitchFamily="34" charset="-122"/>
                <a:cs typeface="Consolas" pitchFamily="34" charset="-120"/>
              </a:rPr>
              <a:t>[SCREENSHOT: bug detail]</a:t>
            </a:r>
            <a:endParaRPr lang="en-US" sz="1200" dirty="0"/>
          </a:p>
          <a:p>
            <a:pPr algn="ctr" indent="0" marL="0">
              <a:buNone/>
            </a:pPr>
            <a:r>
              <a:rPr lang="en-US" sz="1200" dirty="0">
                <a:solidFill>
                  <a:schemeClr val="tx2"/>
                </a:solidFill>
                <a:latin typeface="Consolas" pitchFamily="34" charset="0"/>
                <a:ea typeface="Consolas" pitchFamily="34" charset="-122"/>
                <a:cs typeface="Consolas" pitchFamily="34" charset="-120"/>
              </a:rPr>
              <a:t>last 30 inputs</a:t>
            </a:r>
            <a:endParaRPr lang="en-US" sz="1200" dirty="0"/>
          </a:p>
        </p:txBody>
      </p:sp>
      <p:sp>
        <p:nvSpPr>
          <p:cNvPr id="9" name="Text 6"/>
          <p:cNvSpPr txBox="1"/>
          <p:nvPr/>
        </p:nvSpPr>
        <p:spPr>
          <a:xfrm>
            <a:off x="713232" y="5257800"/>
            <a:ext cx="2416988" cy="868680"/>
          </a:xfrm>
          <a:prstGeom prst="rect">
            <a:avLst/>
          </a:prstGeom>
          <a:noFill/>
          <a:ln/>
        </p:spPr>
        <p:txBody>
          <a:bodyPr wrap="square" lIns="0" tIns="0" rIns="0" bIns="0" rtlCol="0" anchor="t"/>
          <a:lstStyle/>
          <a:p>
            <a:pPr indent="0" marL="0">
              <a:buNone/>
            </a:pPr>
            <a:r>
              <a:rPr lang="en-US" sz="1400" b="1" dirty="0">
                <a:solidFill>
                  <a:schemeClr val="tx1"/>
                </a:solidFill>
              </a:rPr>
              <a:t>Header</a:t>
            </a:r>
            <a:endParaRPr lang="en-US" sz="1400" dirty="0"/>
          </a:p>
          <a:p>
            <a:pPr indent="0" marL="0">
              <a:buNone/>
            </a:pPr>
            <a:r>
              <a:rPr lang="en-US" sz="1400" dirty="0">
                <a:solidFill>
                  <a:schemeClr val="tx2"/>
                </a:solidFill>
              </a:rPr>
              <a:t>game time tested, frames analysed, bugs found, cost banner</a:t>
            </a:r>
            <a:endParaRPr lang="en-US" sz="1400" dirty="0"/>
          </a:p>
        </p:txBody>
      </p:sp>
      <p:sp>
        <p:nvSpPr>
          <p:cNvPr id="10" name="Text 7"/>
          <p:cNvSpPr txBox="1"/>
          <p:nvPr/>
        </p:nvSpPr>
        <p:spPr>
          <a:xfrm>
            <a:off x="3404540" y="5257800"/>
            <a:ext cx="2416988" cy="868680"/>
          </a:xfrm>
          <a:prstGeom prst="rect">
            <a:avLst/>
          </a:prstGeom>
          <a:noFill/>
          <a:ln/>
        </p:spPr>
        <p:txBody>
          <a:bodyPr wrap="square" lIns="0" tIns="0" rIns="0" bIns="0" rtlCol="0" anchor="t"/>
          <a:lstStyle/>
          <a:p>
            <a:pPr indent="0" marL="0">
              <a:buNone/>
            </a:pPr>
            <a:r>
              <a:rPr lang="en-US" sz="1400" b="1" dirty="0">
                <a:solidFill>
                  <a:schemeClr val="tx1"/>
                </a:solidFill>
              </a:rPr>
              <a:t>Map</a:t>
            </a:r>
            <a:endParaRPr lang="en-US" sz="1400" dirty="0"/>
          </a:p>
          <a:p>
            <a:pPr indent="0" marL="0">
              <a:buNone/>
            </a:pPr>
            <a:r>
              <a:rPr lang="en-US" sz="1400" dirty="0">
                <a:solidFill>
                  <a:schemeClr val="tx2"/>
                </a:solidFill>
              </a:rPr>
              <a:t>heatmap of where the bot explored, red marker at every bug</a:t>
            </a:r>
            <a:endParaRPr lang="en-US" sz="1400" dirty="0"/>
          </a:p>
        </p:txBody>
      </p:sp>
      <p:sp>
        <p:nvSpPr>
          <p:cNvPr id="11" name="Text 8"/>
          <p:cNvSpPr txBox="1"/>
          <p:nvPr/>
        </p:nvSpPr>
        <p:spPr>
          <a:xfrm>
            <a:off x="6095848" y="5257800"/>
            <a:ext cx="2416988" cy="868680"/>
          </a:xfrm>
          <a:prstGeom prst="rect">
            <a:avLst/>
          </a:prstGeom>
          <a:noFill/>
          <a:ln/>
        </p:spPr>
        <p:txBody>
          <a:bodyPr wrap="square" lIns="0" tIns="0" rIns="0" bIns="0" rtlCol="0" anchor="t"/>
          <a:lstStyle/>
          <a:p>
            <a:pPr indent="0" marL="0">
              <a:buNone/>
            </a:pPr>
            <a:r>
              <a:rPr lang="en-US" sz="1400" b="1" dirty="0">
                <a:solidFill>
                  <a:schemeClr val="tx1"/>
                </a:solidFill>
              </a:rPr>
              <a:t>Bug log</a:t>
            </a:r>
            <a:endParaRPr lang="en-US" sz="1400" dirty="0"/>
          </a:p>
          <a:p>
            <a:pPr indent="0" marL="0">
              <a:buNone/>
            </a:pPr>
            <a:r>
              <a:rPr lang="en-US" sz="1400" dirty="0">
                <a:solidFill>
                  <a:schemeClr val="tx2"/>
                </a:solidFill>
              </a:rPr>
              <a:t>filter by severity / type, reproduction sequence per bug</a:t>
            </a:r>
            <a:endParaRPr lang="en-US" sz="1400" dirty="0"/>
          </a:p>
        </p:txBody>
      </p:sp>
      <p:sp>
        <p:nvSpPr>
          <p:cNvPr id="12" name="Text 9"/>
          <p:cNvSpPr txBox="1"/>
          <p:nvPr/>
        </p:nvSpPr>
        <p:spPr>
          <a:xfrm>
            <a:off x="8787155" y="5257800"/>
            <a:ext cx="2416988" cy="868680"/>
          </a:xfrm>
          <a:prstGeom prst="rect">
            <a:avLst/>
          </a:prstGeom>
          <a:noFill/>
          <a:ln/>
        </p:spPr>
        <p:txBody>
          <a:bodyPr wrap="square" lIns="0" tIns="0" rIns="0" bIns="0" rtlCol="0" anchor="t"/>
          <a:lstStyle/>
          <a:p>
            <a:pPr indent="0" marL="0">
              <a:buNone/>
            </a:pPr>
            <a:r>
              <a:rPr lang="en-US" sz="1400" b="1" dirty="0">
                <a:solidFill>
                  <a:schemeClr val="tx1"/>
                </a:solidFill>
              </a:rPr>
              <a:t>Export</a:t>
            </a:r>
            <a:endParaRPr lang="en-US" sz="1400" dirty="0"/>
          </a:p>
          <a:p>
            <a:pPr indent="0" marL="0">
              <a:buNone/>
            </a:pPr>
            <a:r>
              <a:rPr lang="en-US" sz="1400" dirty="0">
                <a:solidFill>
                  <a:schemeClr val="tx2"/>
                </a:solidFill>
              </a:rPr>
              <a:t>bug reports as Markdown</a:t>
            </a:r>
            <a:endParaRPr lang="en-US" sz="1400" dirty="0"/>
          </a:p>
        </p:txBody>
      </p:sp>
      <p:sp>
        <p:nvSpPr>
          <p:cNvPr id="25" name="Slide Number Placeholder 0"/>
          <p:cNvSpPr>
            <a:spLocks noGrp="1"/>
          </p:cNvSpPr>
          <p:nvPr>
            <p:ph type="sldNum" sz="quarter" idx="4294967295"/>
          </p:nvPr>
        </p:nvSpPr>
        <p:spPr>
          <a:xfrm>
            <a:off x="713232" y="786384"/>
            <a:ext cx="54864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1"/>
                </a:solidFill>
                <a:latin typeface="Consolas"/>
                <a:ea typeface="Consolas"/>
                <a:cs typeface="Consolas"/>
              </a:defRPr>
            </a:lvl1pPr>
          </a:lstStyle>
          <a:p>
            <a:pPr algn="l"/>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1472184" y="786384"/>
            <a:ext cx="6583680" cy="292608"/>
          </a:xfrm>
          <a:prstGeom prst="rect">
            <a:avLst/>
          </a:prstGeom>
          <a:noFill/>
          <a:ln/>
        </p:spPr>
        <p:txBody>
          <a:bodyPr wrap="square" lIns="0" tIns="0" rIns="0" bIns="0" rtlCol="0" anchor="ctr"/>
          <a:lstStyle/>
          <a:p>
            <a:pPr indent="0" marL="0">
              <a:buNone/>
            </a:pPr>
            <a:r>
              <a:rPr lang="en-US" sz="1100" spc="100" kern="0" dirty="0">
                <a:solidFill>
                  <a:schemeClr val="tx2"/>
                </a:solidFill>
                <a:latin typeface="Consolas" pitchFamily="34" charset="0"/>
                <a:ea typeface="Consolas" pitchFamily="34" charset="-122"/>
                <a:cs typeface="Consolas" pitchFamily="34" charset="-120"/>
              </a:rPr>
              <a:t>LIVE DEMO</a:t>
            </a:r>
            <a:endParaRPr lang="en-US" sz="1100" dirty="0"/>
          </a:p>
        </p:txBody>
      </p:sp>
      <p:sp>
        <p:nvSpPr>
          <p:cNvPr id="3" name="Text 1"/>
          <p:cNvSpPr/>
          <p:nvPr>
            <p:ph idx="102" type="body" hasCustomPrompt="1"/>
          </p:nvPr>
        </p:nvSpPr>
        <p:spPr>
          <a:xfrm>
            <a:off x="6400800" y="786384"/>
            <a:ext cx="5077663" cy="292608"/>
          </a:xfrm>
          <a:prstGeom prst="rect">
            <a:avLst/>
          </a:prstGeom>
          <a:noFill/>
          <a:ln/>
        </p:spPr>
        <p:txBody>
          <a:bodyPr wrap="square" lIns="0" tIns="0" rIns="0" bIns="0" rtlCol="0" anchor="ctr"/>
          <a:lstStyle/>
          <a:p>
            <a:pPr algn="r" indent="0" marL="0">
              <a:buNone/>
            </a:pPr>
            <a:r>
              <a:rPr lang="en-US" sz="1100" dirty="0">
                <a:solidFill>
                  <a:schemeClr val="tx2"/>
                </a:solidFill>
                <a:latin typeface="Consolas" pitchFamily="34" charset="0"/>
                <a:ea typeface="Consolas" pitchFamily="34" charset="-122"/>
                <a:cs typeface="Consolas" pitchFamily="34" charset="-120"/>
              </a:rPr>
              <a:t>Backup: screenshots in this deck</a:t>
            </a:r>
            <a:endParaRPr lang="en-US" sz="1100" dirty="0"/>
          </a:p>
        </p:txBody>
      </p:sp>
      <p:sp>
        <p:nvSpPr>
          <p:cNvPr id="5" name="Text 1"/>
          <p:cNvSpPr/>
          <p:nvPr>
            <p:ph idx="103" type="title" hasCustomPrompt="1"/>
          </p:nvPr>
        </p:nvSpPr>
        <p:spPr>
          <a:xfrm>
            <a:off x="713232" y="1325880"/>
            <a:ext cx="10765231" cy="1280160"/>
          </a:xfrm>
          <a:prstGeom prst="rect">
            <a:avLst/>
          </a:prstGeom>
          <a:noFill/>
          <a:ln/>
        </p:spPr>
        <p:txBody>
          <a:bodyPr wrap="square" lIns="0" tIns="0" rIns="0" bIns="0" rtlCol="0" anchor="t"/>
          <a:lstStyle/>
          <a:p>
            <a:pPr algn="l" indent="0" marL="0">
              <a:lnSpc>
                <a:spcPct val="92000"/>
              </a:lnSpc>
              <a:buNone/>
            </a:pPr>
            <a:r>
              <a:rPr lang="en-US" sz="4400" b="1" dirty="0">
                <a:solidFill>
                  <a:schemeClr val="tx1"/>
                </a:solidFill>
              </a:rPr>
              <a:t>All three bugs in under 15 seconds</a:t>
            </a:r>
            <a:endParaRPr lang="en-US" sz="4400" dirty="0"/>
          </a:p>
        </p:txBody>
      </p:sp>
      <p:sp>
        <p:nvSpPr>
          <p:cNvPr id="6" name="Shape 3"/>
          <p:cNvSpPr/>
          <p:nvPr/>
        </p:nvSpPr>
        <p:spPr>
          <a:xfrm>
            <a:off x="713232" y="2697480"/>
            <a:ext cx="5760720" cy="0"/>
          </a:xfrm>
          <a:prstGeom prst="line">
            <a:avLst/>
          </a:prstGeom>
          <a:noFill/>
          <a:ln w="9525">
            <a:solidFill>
              <a:schemeClr val="accent2"/>
            </a:solidFill>
            <a:prstDash val="solid"/>
          </a:ln>
        </p:spPr>
      </p:sp>
      <p:sp>
        <p:nvSpPr>
          <p:cNvPr id="7" name="Text 4"/>
          <p:cNvSpPr txBox="1"/>
          <p:nvPr/>
        </p:nvSpPr>
        <p:spPr>
          <a:xfrm>
            <a:off x="713232" y="2788920"/>
            <a:ext cx="5760720" cy="292608"/>
          </a:xfrm>
          <a:prstGeom prst="rect">
            <a:avLst/>
          </a:prstGeom>
          <a:noFill/>
          <a:ln/>
        </p:spPr>
        <p:txBody>
          <a:bodyPr wrap="square" lIns="0" tIns="0" rIns="0" bIns="0" rtlCol="0" anchor="t"/>
          <a:lstStyle/>
          <a:p>
            <a:pPr indent="0" marL="0">
              <a:buNone/>
            </a:pPr>
            <a:r>
              <a:rPr lang="en-US" sz="1400" b="1" dirty="0">
                <a:solidFill>
                  <a:schemeClr val="tx1"/>
                </a:solidFill>
              </a:rPr>
              <a:t>1 · Watch it play</a:t>
            </a:r>
            <a:pPr indent="0" marL="0">
              <a:buNone/>
            </a:pPr>
            <a:r>
              <a:rPr lang="en-US" sz="1400" dirty="0">
                <a:solidFill>
                  <a:schemeClr val="tx1"/>
                </a:solidFill>
              </a:rPr>
              <a:t>  (real time, 60 FPS)</a:t>
            </a:r>
            <a:endParaRPr lang="en-US" sz="1400" dirty="0"/>
          </a:p>
        </p:txBody>
      </p:sp>
      <p:sp>
        <p:nvSpPr>
          <p:cNvPr id="8" name="Text 5"/>
          <p:cNvSpPr txBox="1"/>
          <p:nvPr/>
        </p:nvSpPr>
        <p:spPr>
          <a:xfrm>
            <a:off x="713232" y="3090672"/>
            <a:ext cx="5760720" cy="347472"/>
          </a:xfrm>
          <a:prstGeom prst="rect">
            <a:avLst/>
          </a:prstGeom>
          <a:solidFill>
            <a:schemeClr val="tx1"/>
          </a:solidFill>
          <a:ln/>
        </p:spPr>
        <p:txBody>
          <a:bodyPr wrap="square" lIns="76200" tIns="76200" rIns="76200" bIns="76200" rtlCol="0" anchor="ctr"/>
          <a:lstStyle/>
          <a:p>
            <a:pPr indent="0" marL="0">
              <a:buNone/>
            </a:pPr>
            <a:r>
              <a:rPr lang="en-US" sz="1300" dirty="0">
                <a:solidFill>
                  <a:schemeClr val="bg1"/>
                </a:solidFill>
                <a:latin typeface="Consolas" pitchFamily="34" charset="0"/>
                <a:ea typeface="Consolas" pitchFamily="34" charset="-122"/>
                <a:cs typeface="Consolas" pitchFamily="34" charset="-120"/>
              </a:rPr>
              <a:t>python main.py --seed 11</a:t>
            </a:r>
            <a:endParaRPr lang="en-US" sz="1300" dirty="0"/>
          </a:p>
        </p:txBody>
      </p:sp>
      <p:sp>
        <p:nvSpPr>
          <p:cNvPr id="9" name="Text 6"/>
          <p:cNvSpPr txBox="1"/>
          <p:nvPr/>
        </p:nvSpPr>
        <p:spPr>
          <a:xfrm>
            <a:off x="713232" y="3520440"/>
            <a:ext cx="1554480" cy="457200"/>
          </a:xfrm>
          <a:prstGeom prst="rect">
            <a:avLst/>
          </a:prstGeom>
          <a:noFill/>
          <a:ln/>
        </p:spPr>
        <p:txBody>
          <a:bodyPr wrap="square" lIns="0" tIns="0" rIns="0" bIns="0" rtlCol="0" anchor="t"/>
          <a:lstStyle/>
          <a:p>
            <a:pPr indent="0" marL="0">
              <a:buNone/>
            </a:pPr>
            <a:r>
              <a:rPr lang="en-US" sz="2800" b="1" dirty="0">
                <a:solidFill>
                  <a:schemeClr val="accent1"/>
                </a:solidFill>
              </a:rPr>
              <a:t>1.4 s</a:t>
            </a:r>
            <a:endParaRPr lang="en-US" sz="2800" dirty="0"/>
          </a:p>
        </p:txBody>
      </p:sp>
      <p:sp>
        <p:nvSpPr>
          <p:cNvPr id="10" name="Text 7"/>
          <p:cNvSpPr txBox="1"/>
          <p:nvPr/>
        </p:nvSpPr>
        <p:spPr>
          <a:xfrm>
            <a:off x="713232" y="3977640"/>
            <a:ext cx="1554480" cy="228600"/>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Wall Clip</a:t>
            </a:r>
            <a:endParaRPr lang="en-US" sz="1100" dirty="0"/>
          </a:p>
        </p:txBody>
      </p:sp>
      <p:sp>
        <p:nvSpPr>
          <p:cNvPr id="11" name="Text 8"/>
          <p:cNvSpPr txBox="1"/>
          <p:nvPr/>
        </p:nvSpPr>
        <p:spPr>
          <a:xfrm>
            <a:off x="2313432" y="3520440"/>
            <a:ext cx="1554480" cy="457200"/>
          </a:xfrm>
          <a:prstGeom prst="rect">
            <a:avLst/>
          </a:prstGeom>
          <a:noFill/>
          <a:ln/>
        </p:spPr>
        <p:txBody>
          <a:bodyPr wrap="square" lIns="0" tIns="0" rIns="0" bIns="0" rtlCol="0" anchor="t"/>
          <a:lstStyle/>
          <a:p>
            <a:pPr indent="0" marL="0">
              <a:buNone/>
            </a:pPr>
            <a:r>
              <a:rPr lang="en-US" sz="2800" b="1" dirty="0">
                <a:solidFill>
                  <a:schemeClr val="accent1"/>
                </a:solidFill>
              </a:rPr>
              <a:t>3.4 s</a:t>
            </a:r>
            <a:endParaRPr lang="en-US" sz="2800" dirty="0"/>
          </a:p>
        </p:txBody>
      </p:sp>
      <p:sp>
        <p:nvSpPr>
          <p:cNvPr id="12" name="Text 9"/>
          <p:cNvSpPr txBox="1"/>
          <p:nvPr/>
        </p:nvSpPr>
        <p:spPr>
          <a:xfrm>
            <a:off x="2313432" y="3977640"/>
            <a:ext cx="1554480" cy="228600"/>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Infinite Fall</a:t>
            </a:r>
            <a:endParaRPr lang="en-US" sz="1100" dirty="0"/>
          </a:p>
        </p:txBody>
      </p:sp>
      <p:sp>
        <p:nvSpPr>
          <p:cNvPr id="13" name="Text 10"/>
          <p:cNvSpPr txBox="1"/>
          <p:nvPr/>
        </p:nvSpPr>
        <p:spPr>
          <a:xfrm>
            <a:off x="3913632" y="3520440"/>
            <a:ext cx="1554480" cy="457200"/>
          </a:xfrm>
          <a:prstGeom prst="rect">
            <a:avLst/>
          </a:prstGeom>
          <a:noFill/>
          <a:ln/>
        </p:spPr>
        <p:txBody>
          <a:bodyPr wrap="square" lIns="0" tIns="0" rIns="0" bIns="0" rtlCol="0" anchor="t"/>
          <a:lstStyle/>
          <a:p>
            <a:pPr indent="0" marL="0">
              <a:buNone/>
            </a:pPr>
            <a:r>
              <a:rPr lang="en-US" sz="2800" b="1" dirty="0">
                <a:solidFill>
                  <a:schemeClr val="accent1"/>
                </a:solidFill>
              </a:rPr>
              <a:t>12.4 s</a:t>
            </a:r>
            <a:endParaRPr lang="en-US" sz="2800" dirty="0"/>
          </a:p>
        </p:txBody>
      </p:sp>
      <p:sp>
        <p:nvSpPr>
          <p:cNvPr id="14" name="Text 11"/>
          <p:cNvSpPr txBox="1"/>
          <p:nvPr/>
        </p:nvSpPr>
        <p:spPr>
          <a:xfrm>
            <a:off x="3913632" y="3977640"/>
            <a:ext cx="1554480" cy="228600"/>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Softlock</a:t>
            </a:r>
            <a:endParaRPr lang="en-US" sz="1100" dirty="0"/>
          </a:p>
        </p:txBody>
      </p:sp>
      <p:sp>
        <p:nvSpPr>
          <p:cNvPr id="15" name="Shape 12"/>
          <p:cNvSpPr/>
          <p:nvPr/>
        </p:nvSpPr>
        <p:spPr>
          <a:xfrm>
            <a:off x="713232" y="4370832"/>
            <a:ext cx="5760720" cy="0"/>
          </a:xfrm>
          <a:prstGeom prst="line">
            <a:avLst/>
          </a:prstGeom>
          <a:noFill/>
          <a:ln w="9525">
            <a:solidFill>
              <a:schemeClr val="accent2"/>
            </a:solidFill>
            <a:prstDash val="solid"/>
          </a:ln>
        </p:spPr>
      </p:sp>
      <p:sp>
        <p:nvSpPr>
          <p:cNvPr id="16" name="Text 13"/>
          <p:cNvSpPr txBox="1"/>
          <p:nvPr/>
        </p:nvSpPr>
        <p:spPr>
          <a:xfrm>
            <a:off x="713232" y="4462272"/>
            <a:ext cx="5760720" cy="292608"/>
          </a:xfrm>
          <a:prstGeom prst="rect">
            <a:avLst/>
          </a:prstGeom>
          <a:noFill/>
          <a:ln/>
        </p:spPr>
        <p:txBody>
          <a:bodyPr wrap="square" lIns="0" tIns="0" rIns="0" bIns="0" rtlCol="0" anchor="t"/>
          <a:lstStyle/>
          <a:p>
            <a:pPr indent="0" marL="0">
              <a:buNone/>
            </a:pPr>
            <a:r>
              <a:rPr lang="en-US" sz="1400" b="1" dirty="0">
                <a:solidFill>
                  <a:schemeClr val="tx1"/>
                </a:solidFill>
              </a:rPr>
              <a:t>2 · 10 minutes of testing in ~3 seconds</a:t>
            </a:r>
            <a:endParaRPr lang="en-US" sz="1400" dirty="0"/>
          </a:p>
        </p:txBody>
      </p:sp>
      <p:sp>
        <p:nvSpPr>
          <p:cNvPr id="17" name="Text 14"/>
          <p:cNvSpPr txBox="1"/>
          <p:nvPr/>
        </p:nvSpPr>
        <p:spPr>
          <a:xfrm>
            <a:off x="713232" y="4754880"/>
            <a:ext cx="5760720" cy="347472"/>
          </a:xfrm>
          <a:prstGeom prst="rect">
            <a:avLst/>
          </a:prstGeom>
          <a:solidFill>
            <a:schemeClr val="tx1"/>
          </a:solidFill>
          <a:ln/>
        </p:spPr>
        <p:txBody>
          <a:bodyPr wrap="square" lIns="76200" tIns="76200" rIns="76200" bIns="76200" rtlCol="0" anchor="ctr"/>
          <a:lstStyle/>
          <a:p>
            <a:pPr indent="0" marL="0">
              <a:buNone/>
            </a:pPr>
            <a:r>
              <a:rPr lang="en-US" sz="1300" dirty="0">
                <a:solidFill>
                  <a:schemeClr val="bg1"/>
                </a:solidFill>
                <a:latin typeface="Consolas" pitchFamily="34" charset="0"/>
                <a:ea typeface="Consolas" pitchFamily="34" charset="-122"/>
                <a:cs typeface="Consolas" pitchFamily="34" charset="-120"/>
              </a:rPr>
              <a:t>python main.py --headless --frames 36000 --analyze</a:t>
            </a:r>
            <a:endParaRPr lang="en-US" sz="1300" dirty="0"/>
          </a:p>
        </p:txBody>
      </p:sp>
      <p:sp>
        <p:nvSpPr>
          <p:cNvPr id="18" name="Shape 15"/>
          <p:cNvSpPr/>
          <p:nvPr/>
        </p:nvSpPr>
        <p:spPr>
          <a:xfrm>
            <a:off x="713232" y="5230368"/>
            <a:ext cx="5760720" cy="0"/>
          </a:xfrm>
          <a:prstGeom prst="line">
            <a:avLst/>
          </a:prstGeom>
          <a:noFill/>
          <a:ln w="9525">
            <a:solidFill>
              <a:schemeClr val="accent2"/>
            </a:solidFill>
            <a:prstDash val="solid"/>
          </a:ln>
        </p:spPr>
      </p:sp>
      <p:sp>
        <p:nvSpPr>
          <p:cNvPr id="19" name="Text 16"/>
          <p:cNvSpPr txBox="1"/>
          <p:nvPr/>
        </p:nvSpPr>
        <p:spPr>
          <a:xfrm>
            <a:off x="713232" y="5321808"/>
            <a:ext cx="5760720" cy="292608"/>
          </a:xfrm>
          <a:prstGeom prst="rect">
            <a:avLst/>
          </a:prstGeom>
          <a:noFill/>
          <a:ln/>
        </p:spPr>
        <p:txBody>
          <a:bodyPr wrap="square" lIns="0" tIns="0" rIns="0" bIns="0" rtlCol="0" anchor="t"/>
          <a:lstStyle/>
          <a:p>
            <a:pPr indent="0" marL="0">
              <a:buNone/>
            </a:pPr>
            <a:r>
              <a:rPr lang="en-US" sz="1400" b="1" dirty="0">
                <a:solidFill>
                  <a:schemeClr val="tx1"/>
                </a:solidFill>
              </a:rPr>
              <a:t>3 · Open the website</a:t>
            </a:r>
            <a:pPr indent="0" marL="0">
              <a:buNone/>
            </a:pPr>
            <a:r>
              <a:rPr lang="en-US" sz="1400" dirty="0">
                <a:solidFill>
                  <a:schemeClr val="tx1"/>
                </a:solidFill>
              </a:rPr>
              <a:t>: map, bug list, one bug's steps</a:t>
            </a:r>
            <a:endParaRPr lang="en-US" sz="1400" dirty="0"/>
          </a:p>
        </p:txBody>
      </p:sp>
      <p:sp>
        <p:nvSpPr>
          <p:cNvPr id="20" name="Text 17"/>
          <p:cNvSpPr txBox="1"/>
          <p:nvPr/>
        </p:nvSpPr>
        <p:spPr>
          <a:xfrm>
            <a:off x="713232" y="5614416"/>
            <a:ext cx="5760720" cy="347472"/>
          </a:xfrm>
          <a:prstGeom prst="rect">
            <a:avLst/>
          </a:prstGeom>
          <a:solidFill>
            <a:schemeClr val="tx1"/>
          </a:solidFill>
          <a:ln/>
        </p:spPr>
        <p:txBody>
          <a:bodyPr wrap="square" lIns="76200" tIns="76200" rIns="76200" bIns="76200" rtlCol="0" anchor="ctr"/>
          <a:lstStyle/>
          <a:p>
            <a:pPr indent="0" marL="0">
              <a:buNone/>
            </a:pPr>
            <a:r>
              <a:rPr lang="en-US" sz="1300" dirty="0">
                <a:solidFill>
                  <a:schemeClr val="bg1"/>
                </a:solidFill>
                <a:latin typeface="Consolas" pitchFamily="34" charset="0"/>
                <a:ea typeface="Consolas" pitchFamily="34" charset="-122"/>
                <a:cs typeface="Consolas" pitchFamily="34" charset="-120"/>
              </a:rPr>
              <a:t>streamlit run dashboard/app.py</a:t>
            </a:r>
            <a:endParaRPr lang="en-US" sz="1300" dirty="0"/>
          </a:p>
        </p:txBody>
      </p:sp>
      <p:pic>
        <p:nvPicPr>
          <p:cNvPr id="21" name="Game screenshot" descr="Game window at frame 744, seed 11: player stuck in the Softlock Pit, HUD shows all three glitches found">    </p:cNvPr>
          <p:cNvPicPr>
            <a:picLocks noChangeAspect="1"/>
          </p:cNvPicPr>
          <p:nvPr/>
        </p:nvPicPr>
        <p:blipFill>
          <a:blip r:embed="rId1"/>
          <a:stretch>
            <a:fillRect/>
          </a:stretch>
        </p:blipFill>
        <p:spPr>
          <a:xfrm>
            <a:off x="6912864" y="2697480"/>
            <a:ext cx="4572000" cy="3429000"/>
          </a:xfrm>
          <a:prstGeom prst="rect">
            <a:avLst/>
          </a:prstGeom>
        </p:spPr>
      </p:pic>
      <p:sp>
        <p:nvSpPr>
          <p:cNvPr id="22" name="Shape 18"/>
          <p:cNvSpPr/>
          <p:nvPr/>
        </p:nvSpPr>
        <p:spPr>
          <a:xfrm>
            <a:off x="6912864" y="2697480"/>
            <a:ext cx="4572000" cy="3429000"/>
          </a:xfrm>
          <a:prstGeom prst="rect">
            <a:avLst/>
          </a:prstGeom>
          <a:ln w="9525">
            <a:solidFill>
              <a:schemeClr val="tx1"/>
            </a:solidFill>
            <a:prstDash val="solid"/>
          </a:ln>
        </p:spPr>
      </p:sp>
      <p:sp>
        <p:nvSpPr>
          <p:cNvPr id="23" name="Text 19"/>
          <p:cNvSpPr txBox="1"/>
          <p:nvPr/>
        </p:nvSpPr>
        <p:spPr>
          <a:xfrm>
            <a:off x="6912864" y="6181344"/>
            <a:ext cx="4572000" cy="36576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Game window, seed 11, frame 744 (12.4 s): stuck in the Softlock Pit, HUD shows all 3 glitches found</a:t>
            </a:r>
            <a:endParaRPr lang="en-US" sz="1000" dirty="0"/>
          </a:p>
        </p:txBody>
      </p:sp>
      <p:sp>
        <p:nvSpPr>
          <p:cNvPr id="25" name="Slide Number Placeholder 0"/>
          <p:cNvSpPr>
            <a:spLocks noGrp="1"/>
          </p:cNvSpPr>
          <p:nvPr>
            <p:ph type="sldNum" sz="quarter" idx="4294967295"/>
          </p:nvPr>
        </p:nvSpPr>
        <p:spPr>
          <a:xfrm>
            <a:off x="713232" y="786384"/>
            <a:ext cx="54864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1"/>
                </a:solidFill>
                <a:latin typeface="Consolas"/>
                <a:ea typeface="Consolas"/>
                <a:cs typeface="Consolas"/>
              </a:defRPr>
            </a:lvl1pPr>
          </a:lstStyle>
          <a:p>
            <a:pPr algn="l"/>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1472184" y="786384"/>
            <a:ext cx="6583680" cy="292608"/>
          </a:xfrm>
          <a:prstGeom prst="rect">
            <a:avLst/>
          </a:prstGeom>
          <a:noFill/>
          <a:ln/>
        </p:spPr>
        <p:txBody>
          <a:bodyPr wrap="square" lIns="0" tIns="0" rIns="0" bIns="0" rtlCol="0" anchor="ctr"/>
          <a:lstStyle/>
          <a:p>
            <a:pPr indent="0" marL="0">
              <a:buNone/>
            </a:pPr>
            <a:r>
              <a:rPr lang="en-US" sz="1100" spc="100" kern="0" dirty="0">
                <a:solidFill>
                  <a:schemeClr val="tx2"/>
                </a:solidFill>
                <a:latin typeface="Consolas" pitchFamily="34" charset="0"/>
                <a:ea typeface="Consolas" pitchFamily="34" charset="-122"/>
                <a:cs typeface="Consolas" pitchFamily="34" charset="-120"/>
              </a:rPr>
              <a:t>USER VALUE</a:t>
            </a:r>
            <a:endParaRPr lang="en-US" sz="1100" dirty="0"/>
          </a:p>
        </p:txBody>
      </p:sp>
      <p:sp>
        <p:nvSpPr>
          <p:cNvPr id="3" name="Text 1"/>
          <p:cNvSpPr/>
          <p:nvPr>
            <p:ph idx="102" type="body" hasCustomPrompt="1"/>
          </p:nvPr>
        </p:nvSpPr>
        <p:spPr>
          <a:xfrm>
            <a:off x="6400800" y="786384"/>
            <a:ext cx="5077663" cy="292608"/>
          </a:xfrm>
          <a:prstGeom prst="rect">
            <a:avLst/>
          </a:prstGeom>
          <a:noFill/>
          <a:ln/>
        </p:spPr>
        <p:txBody>
          <a:bodyPr wrap="square" lIns="0" tIns="0" rIns="0" bIns="0" rtlCol="0" anchor="ctr"/>
          <a:lstStyle/>
          <a:p>
            <a:pPr algn="r" indent="0" marL="0">
              <a:buNone/>
            </a:pPr>
            <a:r>
              <a:rPr lang="en-US" sz="1100" dirty="0">
                <a:solidFill>
                  <a:schemeClr val="tx2"/>
                </a:solidFill>
                <a:latin typeface="Consolas" pitchFamily="34" charset="0"/>
                <a:ea typeface="Consolas" pitchFamily="34" charset="-122"/>
                <a:cs typeface="Consolas" pitchFamily="34" charset="-120"/>
              </a:rPr>
              <a:t>Steam launch risk</a:t>
            </a:r>
            <a:endParaRPr lang="en-US" sz="1100" dirty="0"/>
          </a:p>
        </p:txBody>
      </p:sp>
      <p:sp>
        <p:nvSpPr>
          <p:cNvPr id="5" name="Text 1"/>
          <p:cNvSpPr/>
          <p:nvPr>
            <p:ph idx="103" type="title" hasCustomPrompt="1"/>
          </p:nvPr>
        </p:nvSpPr>
        <p:spPr>
          <a:xfrm>
            <a:off x="713232" y="1325880"/>
            <a:ext cx="10765231" cy="1280160"/>
          </a:xfrm>
          <a:prstGeom prst="rect">
            <a:avLst/>
          </a:prstGeom>
          <a:noFill/>
          <a:ln/>
        </p:spPr>
        <p:txBody>
          <a:bodyPr wrap="square" lIns="0" tIns="0" rIns="0" bIns="0" rtlCol="0" anchor="t"/>
          <a:lstStyle/>
          <a:p>
            <a:pPr algn="l" indent="0" marL="0">
              <a:lnSpc>
                <a:spcPct val="92000"/>
              </a:lnSpc>
              <a:buNone/>
            </a:pPr>
            <a:r>
              <a:rPr lang="en-US" sz="4400" b="1" dirty="0">
                <a:solidFill>
                  <a:schemeClr val="tx1"/>
                </a:solidFill>
              </a:rPr>
              <a:t>Find the bug before it hits your reviews</a:t>
            </a:r>
            <a:endParaRPr lang="en-US" sz="4400" dirty="0"/>
          </a:p>
        </p:txBody>
      </p:sp>
      <p:sp>
        <p:nvSpPr>
          <p:cNvPr id="6" name="Shape 3"/>
          <p:cNvSpPr/>
          <p:nvPr/>
        </p:nvSpPr>
        <p:spPr>
          <a:xfrm>
            <a:off x="713232" y="3017520"/>
            <a:ext cx="3405530" cy="0"/>
          </a:xfrm>
          <a:prstGeom prst="line">
            <a:avLst/>
          </a:prstGeom>
          <a:noFill/>
          <a:ln w="19050">
            <a:solidFill>
              <a:schemeClr val="tx1"/>
            </a:solidFill>
            <a:prstDash val="solid"/>
          </a:ln>
        </p:spPr>
      </p:sp>
      <p:sp>
        <p:nvSpPr>
          <p:cNvPr id="7" name="Text 4"/>
          <p:cNvSpPr txBox="1"/>
          <p:nvPr/>
        </p:nvSpPr>
        <p:spPr>
          <a:xfrm>
            <a:off x="713232" y="3154680"/>
            <a:ext cx="3405530" cy="256032"/>
          </a:xfrm>
          <a:prstGeom prst="rect">
            <a:avLst/>
          </a:prstGeom>
          <a:noFill/>
          <a:ln/>
        </p:spPr>
        <p:txBody>
          <a:bodyPr wrap="square" lIns="0" tIns="0" rIns="0" bIns="0" rtlCol="0" anchor="t"/>
          <a:lstStyle/>
          <a:p>
            <a:pPr indent="0" marL="0">
              <a:buNone/>
            </a:pPr>
            <a:r>
              <a:rPr lang="en-US" sz="1000" spc="200" kern="0" dirty="0">
                <a:solidFill>
                  <a:schemeClr val="tx2"/>
                </a:solidFill>
                <a:latin typeface="Consolas" pitchFamily="34" charset="0"/>
                <a:ea typeface="Consolas" pitchFamily="34" charset="-122"/>
                <a:cs typeface="Consolas" pitchFamily="34" charset="-120"/>
              </a:rPr>
              <a:t>BEFORE LAUNCH</a:t>
            </a:r>
            <a:endParaRPr lang="en-US" sz="1000" dirty="0"/>
          </a:p>
        </p:txBody>
      </p:sp>
      <p:sp>
        <p:nvSpPr>
          <p:cNvPr id="8" name="Text 5"/>
          <p:cNvSpPr txBox="1"/>
          <p:nvPr/>
        </p:nvSpPr>
        <p:spPr>
          <a:xfrm>
            <a:off x="713232" y="3474720"/>
            <a:ext cx="3405530" cy="1463040"/>
          </a:xfrm>
          <a:prstGeom prst="rect">
            <a:avLst/>
          </a:prstGeom>
          <a:noFill/>
          <a:ln/>
        </p:spPr>
        <p:txBody>
          <a:bodyPr wrap="square" lIns="0" tIns="0" rIns="0" bIns="0" rtlCol="0" anchor="t"/>
          <a:lstStyle/>
          <a:p>
            <a:pPr indent="0" marL="0">
              <a:lnSpc>
                <a:spcPct val="105000"/>
              </a:lnSpc>
              <a:buNone/>
            </a:pPr>
            <a:r>
              <a:rPr lang="en-US" sz="1900" b="1" dirty="0">
                <a:solidFill>
                  <a:schemeClr val="tx1"/>
                </a:solidFill>
              </a:rPr>
              <a:t>Collision bugs are caught on your machine, not in Steam reviews and refund requests.</a:t>
            </a:r>
            <a:endParaRPr lang="en-US" sz="1900" dirty="0"/>
          </a:p>
        </p:txBody>
      </p:sp>
      <p:sp>
        <p:nvSpPr>
          <p:cNvPr id="9" name="Shape 6"/>
          <p:cNvSpPr/>
          <p:nvPr/>
        </p:nvSpPr>
        <p:spPr>
          <a:xfrm>
            <a:off x="4393082" y="3017520"/>
            <a:ext cx="3405530" cy="0"/>
          </a:xfrm>
          <a:prstGeom prst="line">
            <a:avLst/>
          </a:prstGeom>
          <a:noFill/>
          <a:ln w="19050">
            <a:solidFill>
              <a:schemeClr val="tx1"/>
            </a:solidFill>
            <a:prstDash val="solid"/>
          </a:ln>
        </p:spPr>
      </p:sp>
      <p:sp>
        <p:nvSpPr>
          <p:cNvPr id="10" name="Text 7"/>
          <p:cNvSpPr txBox="1"/>
          <p:nvPr/>
        </p:nvSpPr>
        <p:spPr>
          <a:xfrm>
            <a:off x="4393082" y="3154680"/>
            <a:ext cx="3405530" cy="256032"/>
          </a:xfrm>
          <a:prstGeom prst="rect">
            <a:avLst/>
          </a:prstGeom>
          <a:noFill/>
          <a:ln/>
        </p:spPr>
        <p:txBody>
          <a:bodyPr wrap="square" lIns="0" tIns="0" rIns="0" bIns="0" rtlCol="0" anchor="t"/>
          <a:lstStyle/>
          <a:p>
            <a:pPr indent="0" marL="0">
              <a:buNone/>
            </a:pPr>
            <a:r>
              <a:rPr lang="en-US" sz="1000" spc="200" kern="0" dirty="0">
                <a:solidFill>
                  <a:schemeClr val="tx2"/>
                </a:solidFill>
                <a:latin typeface="Consolas" pitchFamily="34" charset="0"/>
                <a:ea typeface="Consolas" pitchFamily="34" charset="-122"/>
                <a:cs typeface="Consolas" pitchFamily="34" charset="-120"/>
              </a:rPr>
              <a:t>EVERY BUILD</a:t>
            </a:r>
            <a:endParaRPr lang="en-US" sz="1000" dirty="0"/>
          </a:p>
        </p:txBody>
      </p:sp>
      <p:sp>
        <p:nvSpPr>
          <p:cNvPr id="11" name="Text 8"/>
          <p:cNvSpPr txBox="1"/>
          <p:nvPr/>
        </p:nvSpPr>
        <p:spPr>
          <a:xfrm>
            <a:off x="4393082" y="3474720"/>
            <a:ext cx="3405530" cy="1463040"/>
          </a:xfrm>
          <a:prstGeom prst="rect">
            <a:avLst/>
          </a:prstGeom>
          <a:noFill/>
          <a:ln/>
        </p:spPr>
        <p:txBody>
          <a:bodyPr wrap="square" lIns="0" tIns="0" rIns="0" bIns="0" rtlCol="0" anchor="t"/>
          <a:lstStyle/>
          <a:p>
            <a:pPr indent="0" marL="0">
              <a:lnSpc>
                <a:spcPct val="105000"/>
              </a:lnSpc>
              <a:buNone/>
            </a:pPr>
            <a:r>
              <a:rPr lang="en-US" sz="1900" b="1" dirty="0">
                <a:solidFill>
                  <a:schemeClr val="tx1"/>
                </a:solidFill>
              </a:rPr>
              <a:t>10 minutes of play in ~2.5 s means you can re-test the level after every change.</a:t>
            </a:r>
            <a:endParaRPr lang="en-US" sz="1900" dirty="0"/>
          </a:p>
        </p:txBody>
      </p:sp>
      <p:sp>
        <p:nvSpPr>
          <p:cNvPr id="12" name="Shape 9"/>
          <p:cNvSpPr/>
          <p:nvPr/>
        </p:nvSpPr>
        <p:spPr>
          <a:xfrm>
            <a:off x="8072933" y="3017520"/>
            <a:ext cx="3405530" cy="0"/>
          </a:xfrm>
          <a:prstGeom prst="line">
            <a:avLst/>
          </a:prstGeom>
          <a:noFill/>
          <a:ln w="19050">
            <a:solidFill>
              <a:schemeClr val="accent1"/>
            </a:solidFill>
            <a:prstDash val="solid"/>
          </a:ln>
        </p:spPr>
      </p:sp>
      <p:sp>
        <p:nvSpPr>
          <p:cNvPr id="13" name="Text 10"/>
          <p:cNvSpPr txBox="1"/>
          <p:nvPr/>
        </p:nvSpPr>
        <p:spPr>
          <a:xfrm>
            <a:off x="8072933" y="3154680"/>
            <a:ext cx="3405530" cy="256032"/>
          </a:xfrm>
          <a:prstGeom prst="rect">
            <a:avLst/>
          </a:prstGeom>
          <a:noFill/>
          <a:ln/>
        </p:spPr>
        <p:txBody>
          <a:bodyPr wrap="square" lIns="0" tIns="0" rIns="0" bIns="0" rtlCol="0" anchor="t"/>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FIX FAST</a:t>
            </a:r>
            <a:endParaRPr lang="en-US" sz="1000" dirty="0"/>
          </a:p>
        </p:txBody>
      </p:sp>
      <p:sp>
        <p:nvSpPr>
          <p:cNvPr id="14" name="Text 11"/>
          <p:cNvSpPr txBox="1"/>
          <p:nvPr/>
        </p:nvSpPr>
        <p:spPr>
          <a:xfrm>
            <a:off x="8072933" y="3474720"/>
            <a:ext cx="3405530" cy="1463040"/>
          </a:xfrm>
          <a:prstGeom prst="rect">
            <a:avLst/>
          </a:prstGeom>
          <a:noFill/>
          <a:ln/>
        </p:spPr>
        <p:txBody>
          <a:bodyPr wrap="square" lIns="0" tIns="0" rIns="0" bIns="0" rtlCol="0" anchor="t"/>
          <a:lstStyle/>
          <a:p>
            <a:pPr indent="0" marL="0">
              <a:lnSpc>
                <a:spcPct val="105000"/>
              </a:lnSpc>
              <a:buNone/>
            </a:pPr>
            <a:r>
              <a:rPr lang="en-US" sz="1900" b="1" dirty="0">
                <a:solidFill>
                  <a:schemeClr val="tx1"/>
                </a:solidFill>
              </a:rPr>
              <a:t>Each bug ships with location + last 30 inputs. Same seed, same bug, 100% reproducible.</a:t>
            </a:r>
            <a:endParaRPr lang="en-US" sz="1900" dirty="0"/>
          </a:p>
        </p:txBody>
      </p:sp>
      <p:sp>
        <p:nvSpPr>
          <p:cNvPr id="15" name="Shape 12"/>
          <p:cNvSpPr/>
          <p:nvPr/>
        </p:nvSpPr>
        <p:spPr>
          <a:xfrm>
            <a:off x="713232" y="5824728"/>
            <a:ext cx="10765231" cy="0"/>
          </a:xfrm>
          <a:prstGeom prst="line">
            <a:avLst/>
          </a:prstGeom>
          <a:noFill/>
          <a:ln w="9525">
            <a:solidFill>
              <a:schemeClr val="accent2"/>
            </a:solidFill>
            <a:prstDash val="solid"/>
          </a:ln>
        </p:spPr>
      </p:sp>
      <p:sp>
        <p:nvSpPr>
          <p:cNvPr id="16" name="Text 13"/>
          <p:cNvSpPr txBox="1"/>
          <p:nvPr/>
        </p:nvSpPr>
        <p:spPr>
          <a:xfrm>
            <a:off x="713232" y="5925312"/>
            <a:ext cx="5943600" cy="27432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Every bug report: type · severity · location · last 30 inputs</a:t>
            </a:r>
            <a:endParaRPr lang="en-US" sz="1000" dirty="0"/>
          </a:p>
        </p:txBody>
      </p:sp>
      <p:sp>
        <p:nvSpPr>
          <p:cNvPr id="17" name="Text 14"/>
          <p:cNvSpPr txBox="1"/>
          <p:nvPr/>
        </p:nvSpPr>
        <p:spPr>
          <a:xfrm>
            <a:off x="6449263" y="5925312"/>
            <a:ext cx="5029200" cy="274320"/>
          </a:xfrm>
          <a:prstGeom prst="rect">
            <a:avLst/>
          </a:prstGeom>
          <a:noFill/>
          <a:ln/>
        </p:spPr>
        <p:txBody>
          <a:bodyPr wrap="square" lIns="0" tIns="0" rIns="0" bIns="0" rtlCol="0" anchor="t"/>
          <a:lstStyle/>
          <a:p>
            <a:pPr algn="r" indent="0" marL="0">
              <a:buNone/>
            </a:pPr>
            <a:r>
              <a:rPr lang="en-US" sz="1000" dirty="0">
                <a:solidFill>
                  <a:schemeClr val="tx2"/>
                </a:solidFill>
                <a:latin typeface="Consolas" pitchFamily="34" charset="0"/>
                <a:ea typeface="Consolas" pitchFamily="34" charset="-122"/>
                <a:cs typeface="Consolas" pitchFamily="34" charset="-120"/>
              </a:rPr>
              <a:t>Seed 42 · 10 min of play · 86 glitch events</a:t>
            </a:r>
            <a:endParaRPr lang="en-US" sz="1000" dirty="0"/>
          </a:p>
        </p:txBody>
      </p:sp>
      <p:sp>
        <p:nvSpPr>
          <p:cNvPr id="25" name="Slide Number Placeholder 0"/>
          <p:cNvSpPr>
            <a:spLocks noGrp="1"/>
          </p:cNvSpPr>
          <p:nvPr>
            <p:ph type="sldNum" sz="quarter" idx="4294967295"/>
          </p:nvPr>
        </p:nvSpPr>
        <p:spPr>
          <a:xfrm>
            <a:off x="713232" y="786384"/>
            <a:ext cx="54864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1"/>
                </a:solidFill>
                <a:latin typeface="Consolas"/>
                <a:ea typeface="Consolas"/>
                <a:cs typeface="Consolas"/>
              </a:defRPr>
            </a:lvl1pPr>
          </a:lstStyle>
          <a:p>
            <a:pPr algn="l"/>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1472184" y="786384"/>
            <a:ext cx="6583680" cy="292608"/>
          </a:xfrm>
          <a:prstGeom prst="rect">
            <a:avLst/>
          </a:prstGeom>
          <a:noFill/>
          <a:ln/>
        </p:spPr>
        <p:txBody>
          <a:bodyPr wrap="square" lIns="0" tIns="0" rIns="0" bIns="0" rtlCol="0" anchor="ctr"/>
          <a:lstStyle/>
          <a:p>
            <a:pPr indent="0" marL="0">
              <a:buNone/>
            </a:pPr>
            <a:r>
              <a:rPr lang="en-US" sz="1100" spc="100" kern="0" dirty="0">
                <a:solidFill>
                  <a:schemeClr val="tx2"/>
                </a:solidFill>
                <a:latin typeface="Consolas" pitchFamily="34" charset="0"/>
                <a:ea typeface="Consolas" pitchFamily="34" charset="-122"/>
                <a:cs typeface="Consolas" pitchFamily="34" charset="-120"/>
              </a:rPr>
              <a:t>QUALITY TESTING</a:t>
            </a:r>
            <a:endParaRPr lang="en-US" sz="1100" dirty="0"/>
          </a:p>
        </p:txBody>
      </p:sp>
      <p:sp>
        <p:nvSpPr>
          <p:cNvPr id="3" name="Text 1"/>
          <p:cNvSpPr/>
          <p:nvPr>
            <p:ph idx="102" type="body" hasCustomPrompt="1"/>
          </p:nvPr>
        </p:nvSpPr>
        <p:spPr>
          <a:xfrm>
            <a:off x="6400800" y="786384"/>
            <a:ext cx="5077663" cy="292608"/>
          </a:xfrm>
          <a:prstGeom prst="rect">
            <a:avLst/>
          </a:prstGeom>
          <a:noFill/>
          <a:ln/>
        </p:spPr>
        <p:txBody>
          <a:bodyPr wrap="square" lIns="0" tIns="0" rIns="0" bIns="0" rtlCol="0" anchor="ctr"/>
          <a:lstStyle/>
          <a:p>
            <a:pPr algn="r" indent="0" marL="0">
              <a:buNone/>
            </a:pPr>
            <a:r>
              <a:rPr lang="en-US" sz="1100" dirty="0">
                <a:solidFill>
                  <a:schemeClr val="tx2"/>
                </a:solidFill>
                <a:latin typeface="Consolas" pitchFamily="34" charset="0"/>
                <a:ea typeface="Consolas" pitchFamily="34" charset="-122"/>
                <a:cs typeface="Consolas" pitchFamily="34" charset="-120"/>
              </a:rPr>
              <a:t>Where IndieQA fails</a:t>
            </a:r>
            <a:endParaRPr lang="en-US" sz="1100" dirty="0"/>
          </a:p>
        </p:txBody>
      </p:sp>
      <p:sp>
        <p:nvSpPr>
          <p:cNvPr id="5" name="Text 1"/>
          <p:cNvSpPr/>
          <p:nvPr>
            <p:ph idx="103" type="title" hasCustomPrompt="1"/>
          </p:nvPr>
        </p:nvSpPr>
        <p:spPr>
          <a:xfrm>
            <a:off x="713232" y="1325880"/>
            <a:ext cx="10765231" cy="1280160"/>
          </a:xfrm>
          <a:prstGeom prst="rect">
            <a:avLst/>
          </a:prstGeom>
          <a:noFill/>
          <a:ln/>
        </p:spPr>
        <p:txBody>
          <a:bodyPr wrap="square" lIns="0" tIns="0" rIns="0" bIns="0" rtlCol="0" anchor="t"/>
          <a:lstStyle/>
          <a:p>
            <a:pPr algn="l" indent="0" marL="0">
              <a:lnSpc>
                <a:spcPct val="92000"/>
              </a:lnSpc>
              <a:buNone/>
            </a:pPr>
            <a:r>
              <a:rPr lang="en-US" sz="4400" b="1" dirty="0">
                <a:solidFill>
                  <a:schemeClr val="tx1"/>
                </a:solidFill>
              </a:rPr>
              <a:t>Three failure modes we state up front</a:t>
            </a:r>
            <a:endParaRPr lang="en-US" sz="4400" dirty="0"/>
          </a:p>
        </p:txBody>
      </p:sp>
      <p:sp>
        <p:nvSpPr>
          <p:cNvPr id="6" name="Shape 3"/>
          <p:cNvSpPr/>
          <p:nvPr/>
        </p:nvSpPr>
        <p:spPr>
          <a:xfrm>
            <a:off x="713232" y="2697480"/>
            <a:ext cx="6400800" cy="0"/>
          </a:xfrm>
          <a:prstGeom prst="line">
            <a:avLst/>
          </a:prstGeom>
          <a:noFill/>
          <a:ln w="9525">
            <a:solidFill>
              <a:schemeClr val="accent2"/>
            </a:solidFill>
            <a:prstDash val="solid"/>
          </a:ln>
        </p:spPr>
      </p:sp>
      <p:sp>
        <p:nvSpPr>
          <p:cNvPr id="7" name="Failure mode 1 number"/>
          <p:cNvSpPr txBox="1"/>
          <p:nvPr/>
        </p:nvSpPr>
        <p:spPr>
          <a:xfrm>
            <a:off x="713232" y="2807208"/>
            <a:ext cx="548640" cy="640080"/>
          </a:xfrm>
          <a:prstGeom prst="rect">
            <a:avLst/>
          </a:prstGeom>
          <a:noFill/>
          <a:ln/>
        </p:spPr>
        <p:txBody>
          <a:bodyPr wrap="square" lIns="0" tIns="0" rIns="0" bIns="0" rtlCol="0" anchor="t"/>
          <a:lstStyle/>
          <a:p>
            <a:pPr indent="0" marL="0">
              <a:buNone/>
            </a:pPr>
            <a:r>
              <a:rPr lang="en-US" sz="4000" b="1" dirty="0">
                <a:solidFill>
                  <a:schemeClr val="accent1"/>
                </a:solidFill>
              </a:rPr>
              <a:t>1</a:t>
            </a:r>
            <a:endParaRPr lang="en-US" sz="4000" dirty="0"/>
          </a:p>
        </p:txBody>
      </p:sp>
      <p:sp>
        <p:nvSpPr>
          <p:cNvPr id="8" name="Failure mode 1"/>
          <p:cNvSpPr txBox="1"/>
          <p:nvPr/>
        </p:nvSpPr>
        <p:spPr>
          <a:xfrm>
            <a:off x="1399032" y="2834640"/>
            <a:ext cx="5715000" cy="868680"/>
          </a:xfrm>
          <a:prstGeom prst="rect">
            <a:avLst/>
          </a:prstGeom>
          <a:noFill/>
          <a:ln/>
        </p:spPr>
        <p:txBody>
          <a:bodyPr wrap="square" lIns="0" tIns="0" rIns="0" bIns="0" rtlCol="0" anchor="t"/>
          <a:lstStyle/>
          <a:p>
            <a:pPr indent="0" marL="0">
              <a:buNone/>
            </a:pPr>
            <a:r>
              <a:rPr lang="en-US" sz="1800" b="1" dirty="0">
                <a:solidFill>
                  <a:schemeClr val="tx1"/>
                </a:solidFill>
              </a:rPr>
              <a:t>Cannot evaluate narrative or quest-sequencing logic.</a:t>
            </a:r>
            <a:endParaRPr lang="en-US" sz="1800" dirty="0"/>
          </a:p>
          <a:p>
            <a:pPr indent="0" marL="0">
              <a:buNone/>
            </a:pPr>
            <a:r>
              <a:rPr lang="en-US" sz="1300" dirty="0">
                <a:solidFill>
                  <a:schemeClr val="tx2"/>
                </a:solidFill>
              </a:rPr>
              <a:t>It tests physics, not story.</a:t>
            </a:r>
            <a:endParaRPr lang="en-US" sz="1800" dirty="0"/>
          </a:p>
        </p:txBody>
      </p:sp>
      <p:sp>
        <p:nvSpPr>
          <p:cNvPr id="9" name="Shape 6"/>
          <p:cNvSpPr/>
          <p:nvPr/>
        </p:nvSpPr>
        <p:spPr>
          <a:xfrm>
            <a:off x="713232" y="3749040"/>
            <a:ext cx="6400800" cy="0"/>
          </a:xfrm>
          <a:prstGeom prst="line">
            <a:avLst/>
          </a:prstGeom>
          <a:noFill/>
          <a:ln w="9525">
            <a:solidFill>
              <a:schemeClr val="accent2"/>
            </a:solidFill>
            <a:prstDash val="solid"/>
          </a:ln>
        </p:spPr>
      </p:sp>
      <p:sp>
        <p:nvSpPr>
          <p:cNvPr id="10" name="Failure mode 2 number"/>
          <p:cNvSpPr txBox="1"/>
          <p:nvPr/>
        </p:nvSpPr>
        <p:spPr>
          <a:xfrm>
            <a:off x="713232" y="3858768"/>
            <a:ext cx="548640" cy="640080"/>
          </a:xfrm>
          <a:prstGeom prst="rect">
            <a:avLst/>
          </a:prstGeom>
          <a:noFill/>
          <a:ln/>
        </p:spPr>
        <p:txBody>
          <a:bodyPr wrap="square" lIns="0" tIns="0" rIns="0" bIns="0" rtlCol="0" anchor="t"/>
          <a:lstStyle/>
          <a:p>
            <a:pPr indent="0" marL="0">
              <a:buNone/>
            </a:pPr>
            <a:r>
              <a:rPr lang="en-US" sz="4000" b="1" dirty="0">
                <a:solidFill>
                  <a:schemeClr val="accent1"/>
                </a:solidFill>
              </a:rPr>
              <a:t>2</a:t>
            </a:r>
            <a:endParaRPr lang="en-US" sz="4000" dirty="0"/>
          </a:p>
        </p:txBody>
      </p:sp>
      <p:sp>
        <p:nvSpPr>
          <p:cNvPr id="11" name="Failure mode 2"/>
          <p:cNvSpPr txBox="1"/>
          <p:nvPr/>
        </p:nvSpPr>
        <p:spPr>
          <a:xfrm>
            <a:off x="1399032" y="3886200"/>
            <a:ext cx="5715000" cy="868680"/>
          </a:xfrm>
          <a:prstGeom prst="rect">
            <a:avLst/>
          </a:prstGeom>
          <a:noFill/>
          <a:ln/>
        </p:spPr>
        <p:txBody>
          <a:bodyPr wrap="square" lIns="0" tIns="0" rIns="0" bIns="0" rtlCol="0" anchor="t"/>
          <a:lstStyle/>
          <a:p>
            <a:pPr indent="0" marL="0">
              <a:buNone/>
            </a:pPr>
            <a:r>
              <a:rPr lang="en-US" sz="1800" b="1" dirty="0">
                <a:solidFill>
                  <a:schemeClr val="tx1"/>
                </a:solidFill>
              </a:rPr>
              <a:t>High false-positive rate on non-standard physics with custom inertia curves.</a:t>
            </a:r>
            <a:endParaRPr lang="en-US" sz="1800" dirty="0"/>
          </a:p>
          <a:p>
            <a:pPr indent="0" marL="0">
              <a:buNone/>
            </a:pPr>
            <a:r>
              <a:rPr lang="en-US" sz="1300" dirty="0">
                <a:solidFill>
                  <a:schemeClr val="tx2"/>
                </a:solidFill>
              </a:rPr>
              <a:t>Thresholds like 25 px/frame assume standard platformer physics.</a:t>
            </a:r>
            <a:endParaRPr lang="en-US" sz="1800" dirty="0"/>
          </a:p>
        </p:txBody>
      </p:sp>
      <p:sp>
        <p:nvSpPr>
          <p:cNvPr id="12" name="Shape 9"/>
          <p:cNvSpPr/>
          <p:nvPr/>
        </p:nvSpPr>
        <p:spPr>
          <a:xfrm>
            <a:off x="713232" y="4800600"/>
            <a:ext cx="6400800" cy="0"/>
          </a:xfrm>
          <a:prstGeom prst="line">
            <a:avLst/>
          </a:prstGeom>
          <a:noFill/>
          <a:ln w="9525">
            <a:solidFill>
              <a:schemeClr val="accent2"/>
            </a:solidFill>
            <a:prstDash val="solid"/>
          </a:ln>
        </p:spPr>
      </p:sp>
      <p:sp>
        <p:nvSpPr>
          <p:cNvPr id="13" name="Failure mode 3 number"/>
          <p:cNvSpPr txBox="1"/>
          <p:nvPr/>
        </p:nvSpPr>
        <p:spPr>
          <a:xfrm>
            <a:off x="713232" y="4910328"/>
            <a:ext cx="548640" cy="640080"/>
          </a:xfrm>
          <a:prstGeom prst="rect">
            <a:avLst/>
          </a:prstGeom>
          <a:noFill/>
          <a:ln/>
        </p:spPr>
        <p:txBody>
          <a:bodyPr wrap="square" lIns="0" tIns="0" rIns="0" bIns="0" rtlCol="0" anchor="t"/>
          <a:lstStyle/>
          <a:p>
            <a:pPr indent="0" marL="0">
              <a:buNone/>
            </a:pPr>
            <a:r>
              <a:rPr lang="en-US" sz="4000" b="1" dirty="0">
                <a:solidFill>
                  <a:schemeClr val="accent1"/>
                </a:solidFill>
              </a:rPr>
              <a:t>3</a:t>
            </a:r>
            <a:endParaRPr lang="en-US" sz="4000" dirty="0"/>
          </a:p>
        </p:txBody>
      </p:sp>
      <p:sp>
        <p:nvSpPr>
          <p:cNvPr id="14" name="Failure mode 3"/>
          <p:cNvSpPr txBox="1"/>
          <p:nvPr/>
        </p:nvSpPr>
        <p:spPr>
          <a:xfrm>
            <a:off x="1399032" y="4937760"/>
            <a:ext cx="5715000" cy="868680"/>
          </a:xfrm>
          <a:prstGeom prst="rect">
            <a:avLst/>
          </a:prstGeom>
          <a:noFill/>
          <a:ln/>
        </p:spPr>
        <p:txBody>
          <a:bodyPr wrap="square" lIns="0" tIns="0" rIns="0" bIns="0" rtlCol="0" anchor="t"/>
          <a:lstStyle/>
          <a:p>
            <a:pPr indent="0" marL="0">
              <a:buNone/>
            </a:pPr>
            <a:r>
              <a:rPr lang="en-US" sz="1800" b="1" dirty="0">
                <a:solidFill>
                  <a:schemeClr val="tx1"/>
                </a:solidFill>
              </a:rPr>
              <a:t>Struggles with procedurally generated maps with no static geometry reference.</a:t>
            </a:r>
            <a:endParaRPr lang="en-US" sz="1800" dirty="0"/>
          </a:p>
        </p:txBody>
      </p:sp>
      <p:sp>
        <p:nvSpPr>
          <p:cNvPr id="15" name="Shape 12"/>
          <p:cNvSpPr/>
          <p:nvPr/>
        </p:nvSpPr>
        <p:spPr>
          <a:xfrm>
            <a:off x="713232" y="5852160"/>
            <a:ext cx="6400800" cy="0"/>
          </a:xfrm>
          <a:prstGeom prst="line">
            <a:avLst/>
          </a:prstGeom>
          <a:noFill/>
          <a:ln w="9525">
            <a:solidFill>
              <a:schemeClr val="accent2"/>
            </a:solidFill>
            <a:prstDash val="solid"/>
          </a:ln>
        </p:spPr>
      </p:sp>
      <p:sp>
        <p:nvSpPr>
          <p:cNvPr id="16" name="Validation panel"/>
          <p:cNvSpPr/>
          <p:nvPr/>
        </p:nvSpPr>
        <p:spPr>
          <a:xfrm>
            <a:off x="7818120" y="2697480"/>
            <a:ext cx="3660343" cy="3520440"/>
          </a:xfrm>
          <a:prstGeom prst="rect">
            <a:avLst/>
          </a:prstGeom>
          <a:solidFill>
            <a:schemeClr val="bg2"/>
          </a:solidFill>
          <a:ln/>
        </p:spPr>
      </p:sp>
      <p:sp>
        <p:nvSpPr>
          <p:cNvPr id="17" name="Text 14"/>
          <p:cNvSpPr txBox="1"/>
          <p:nvPr/>
        </p:nvSpPr>
        <p:spPr>
          <a:xfrm>
            <a:off x="8074152" y="2852928"/>
            <a:ext cx="3148279" cy="256032"/>
          </a:xfrm>
          <a:prstGeom prst="rect">
            <a:avLst/>
          </a:prstGeom>
          <a:noFill/>
          <a:ln/>
        </p:spPr>
        <p:txBody>
          <a:bodyPr wrap="square" lIns="0" tIns="0" rIns="0" bIns="0" rtlCol="0" anchor="t"/>
          <a:lstStyle/>
          <a:p>
            <a:pPr indent="0" marL="0">
              <a:buNone/>
            </a:pPr>
            <a:r>
              <a:rPr lang="en-US" sz="1000" spc="200" kern="0" dirty="0">
                <a:solidFill>
                  <a:schemeClr val="tx2"/>
                </a:solidFill>
                <a:latin typeface="Consolas" pitchFamily="34" charset="0"/>
                <a:ea typeface="Consolas" pitchFamily="34" charset="-122"/>
                <a:cs typeface="Consolas" pitchFamily="34" charset="-120"/>
              </a:rPr>
              <a:t>HOW WE VALIDATE OURSELVES</a:t>
            </a:r>
            <a:endParaRPr lang="en-US" sz="1000" dirty="0"/>
          </a:p>
        </p:txBody>
      </p:sp>
      <p:sp>
        <p:nvSpPr>
          <p:cNvPr id="18" name="Text 15"/>
          <p:cNvSpPr txBox="1"/>
          <p:nvPr/>
        </p:nvSpPr>
        <p:spPr>
          <a:xfrm>
            <a:off x="8074152" y="3154680"/>
            <a:ext cx="3148279" cy="868680"/>
          </a:xfrm>
          <a:prstGeom prst="rect">
            <a:avLst/>
          </a:prstGeom>
          <a:noFill/>
          <a:ln/>
        </p:spPr>
        <p:txBody>
          <a:bodyPr wrap="square" lIns="0" tIns="0" rIns="0" bIns="0" rtlCol="0" anchor="t"/>
          <a:lstStyle/>
          <a:p>
            <a:pPr indent="0" marL="0">
              <a:buNone/>
            </a:pPr>
            <a:r>
              <a:rPr lang="en-US" sz="1500" b="1" dirty="0">
                <a:solidFill>
                  <a:schemeClr val="tx1"/>
                </a:solidFill>
              </a:rPr>
              <a:t>A planted-bug level + an automatic check of detector output vs the engine's ground truth.</a:t>
            </a:r>
            <a:endParaRPr lang="en-US" sz="1500" dirty="0"/>
          </a:p>
        </p:txBody>
      </p:sp>
      <p:sp>
        <p:nvSpPr>
          <p:cNvPr id="19" name="Text 16"/>
          <p:cNvSpPr txBox="1"/>
          <p:nvPr/>
        </p:nvSpPr>
        <p:spPr>
          <a:xfrm>
            <a:off x="8074152" y="4023360"/>
            <a:ext cx="3148279" cy="27432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found / missed / false alarms, per bug type</a:t>
            </a:r>
            <a:endParaRPr lang="en-US" sz="1000" dirty="0"/>
          </a:p>
        </p:txBody>
      </p:sp>
      <p:graphicFrame>
        <p:nvGraphicFramePr>
          <p:cNvPr id="10" name="Detector results table"/>
          <p:cNvGraphicFramePr>
            <a:graphicFrameLocks noGrp="1"/>
          </p:cNvGraphicFramePr>
          <p:nvPr>
            <p:extLst>
              <p:ext uri="{D42A27DB-BD31-4B8C-83A1-F6EECF244321}">
                <p14:modId xmlns:p14="http://schemas.microsoft.com/office/powerpoint/2010/main" val="1579011935"/>
              </p:ext>
            </p:extLst>
          </p:nvPr>
        </p:nvGraphicFramePr>
        <p:xfrm>
          <a:off x="8074152" y="4434840"/>
          <a:ext cx="3148279" cy="914400"/>
        </p:xfrm>
        <a:graphic>
          <a:graphicData uri="http://schemas.openxmlformats.org/drawingml/2006/table">
            <a:tbl>
              <a:tblPr/>
              <a:tblGrid>
                <a:gridCol w="1371600"/>
                <a:gridCol w="1776679"/>
              </a:tblGrid>
              <a:tr h="274320">
                <a:tc>
                  <a:txBody>
                    <a:bodyPr/>
                    <a:lstStyle/>
                    <a:p>
                      <a:pPr indent="0" marL="0">
                        <a:buNone/>
                      </a:pPr>
                      <a:r>
                        <a:rPr lang="en-US" sz="900" dirty="0">
                          <a:solidFill>
                            <a:schemeClr val="tx2"/>
                          </a:solidFill>
                          <a:latin typeface="Consolas" pitchFamily="34" charset="0"/>
                          <a:ea typeface="Consolas" pitchFamily="34" charset="-122"/>
                          <a:cs typeface="Consolas" pitchFamily="34" charset="-120"/>
                        </a:rPr>
                        <a:t>BUG</a:t>
                      </a:r>
                      <a:endParaRPr lang="en-US" sz="900" dirty="0">
                        <a:latin typeface="Consolas" charset="0"/>
                        <a:ea typeface="Consolas" charset="0"/>
                        <a:cs typeface="Consolas" charset="0"/>
                      </a:endParaRPr>
                    </a:p>
                  </a:txBody>
                  <a:tcPr marL="0" marR="50800" marT="38100" marB="38100" anchor="ctr">
                    <a:lnL w="0" cap="flat" cmpd="sng" algn="ctr">
                      <a:noFill/>
                    </a:lnL>
                    <a:lnR w="0" cap="flat" cmpd="sng" algn="ctr">
                      <a:noFill/>
                    </a:lnR>
                    <a:lnT w="0" cap="flat" cmpd="sng" algn="ctr">
                      <a:noFill/>
                    </a:lnT>
                    <a:lnB w="19050" cap="flat" cmpd="sng" algn="ctr">
                      <a:solidFill>
                        <a:schemeClr val="tx1"/>
                      </a:solidFill>
                      <a:prstDash val="solid"/>
                      <a:round/>
                      <a:headEnd type="none" w="med" len="med"/>
                      <a:tailEnd type="none" w="med" len="med"/>
                    </a:lnB>
                  </a:tcPr>
                </a:tc>
                <a:tc>
                  <a:txBody>
                    <a:bodyPr/>
                    <a:lstStyle/>
                    <a:p>
                      <a:pPr indent="0" marL="0">
                        <a:buNone/>
                      </a:pPr>
                      <a:r>
                        <a:rPr lang="en-US" sz="900" dirty="0">
                          <a:solidFill>
                            <a:schemeClr val="tx2"/>
                          </a:solidFill>
                          <a:latin typeface="Consolas" pitchFamily="34" charset="0"/>
                          <a:ea typeface="Consolas" pitchFamily="34" charset="-122"/>
                          <a:cs typeface="Consolas" pitchFamily="34" charset="-120"/>
                        </a:rPr>
                        <a:t>DETECTED</a:t>
                      </a:r>
                      <a:endParaRPr lang="en-US" sz="900" dirty="0">
                        <a:latin typeface="Consolas" charset="0"/>
                        <a:ea typeface="Consolas" charset="0"/>
                        <a:cs typeface="Consolas" charset="0"/>
                      </a:endParaRPr>
                    </a:p>
                  </a:txBody>
                  <a:tcPr marL="0" marR="50800" marT="38100" marB="38100" anchor="ctr">
                    <a:lnL w="0" cap="flat" cmpd="sng" algn="ctr">
                      <a:noFill/>
                    </a:lnL>
                    <a:lnR w="0" cap="flat" cmpd="sng" algn="ctr">
                      <a:noFill/>
                    </a:lnR>
                    <a:lnT w="0" cap="flat" cmpd="sng" algn="ctr">
                      <a:noFill/>
                    </a:lnT>
                    <a:lnB w="19050" cap="flat" cmpd="sng" algn="ctr">
                      <a:solidFill>
                        <a:schemeClr val="tx1"/>
                      </a:solidFill>
                      <a:prstDash val="solid"/>
                      <a:round/>
                      <a:headEnd type="none" w="med" len="med"/>
                      <a:tailEnd type="none" w="med" len="med"/>
                    </a:lnB>
                  </a:tcPr>
                </a:tc>
              </a:tr>
              <a:tr h="438912">
                <a:tc>
                  <a:txBody>
                    <a:bodyPr/>
                    <a:lstStyle/>
                    <a:p>
                      <a:pPr indent="0" marL="0">
                        <a:buNone/>
                      </a:pPr>
                      <a:r>
                        <a:rPr lang="en-US" sz="1400" dirty="0">
                          <a:solidFill>
                            <a:schemeClr val="tx1"/>
                          </a:solidFill>
                        </a:rPr>
                        <a:t>Wall Clip</a:t>
                      </a:r>
                      <a:endParaRPr lang="en-US" sz="1400" dirty="0"/>
                    </a:p>
                  </a:txBody>
                  <a:tcPr marL="0" marR="50800" marT="38100" marB="381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tcPr>
                </a:tc>
                <a:tc>
                  <a:txBody>
                    <a:bodyPr/>
                    <a:lstStyle/>
                    <a:p>
                      <a:pPr indent="0" marL="0">
                        <a:buNone/>
                      </a:pPr>
                      <a:r>
                        <a:rPr lang="en-US" sz="1800" b="1" dirty="0">
                          <a:solidFill>
                            <a:schemeClr val="accent1"/>
                          </a:solidFill>
                          <a:latin typeface="Consolas" pitchFamily="34" charset="0"/>
                          <a:ea typeface="Consolas" pitchFamily="34" charset="-122"/>
                          <a:cs typeface="Consolas" pitchFamily="34" charset="-120"/>
                        </a:rPr>
                        <a:t>22/22</a:t>
                      </a:r>
                      <a:endParaRPr lang="en-US" sz="1800" dirty="0">
                        <a:latin typeface="Consolas" charset="0"/>
                        <a:ea typeface="Consolas" charset="0"/>
                        <a:cs typeface="Consolas" charset="0"/>
                      </a:endParaRPr>
                    </a:p>
                  </a:txBody>
                  <a:tcPr marL="0" marR="50800" marT="38100" marB="381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tcPr>
                </a:tc>
              </a:tr>
              <a:tr h="438912">
                <a:tc>
                  <a:txBody>
                    <a:bodyPr/>
                    <a:lstStyle/>
                    <a:p>
                      <a:pPr indent="0" marL="0">
                        <a:buNone/>
                      </a:pPr>
                      <a:r>
                        <a:rPr lang="en-US" sz="1400" dirty="0">
                          <a:solidFill>
                            <a:schemeClr val="tx1"/>
                          </a:solidFill>
                        </a:rPr>
                        <a:t>Infinite Fall</a:t>
                      </a:r>
                      <a:endParaRPr lang="en-US" sz="1400" dirty="0"/>
                    </a:p>
                  </a:txBody>
                  <a:tcPr marL="0" marR="50800" marT="38100" marB="381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tcPr>
                </a:tc>
                <a:tc>
                  <a:txBody>
                    <a:bodyPr/>
                    <a:lstStyle/>
                    <a:p>
                      <a:pPr indent="0" marL="0">
                        <a:buNone/>
                      </a:pPr>
                      <a:r>
                        <a:rPr lang="en-US" sz="1100" dirty="0">
                          <a:solidFill>
                            <a:schemeClr val="tx1"/>
                          </a:solidFill>
                          <a:latin typeface="Consolas" pitchFamily="34" charset="0"/>
                          <a:ea typeface="Consolas" pitchFamily="34" charset="-122"/>
                          <a:cs typeface="Consolas" pitchFamily="34" charset="-120"/>
                        </a:rPr>
                        <a:t>[detector results]</a:t>
                      </a:r>
                      <a:endParaRPr lang="en-US" sz="1100" dirty="0">
                        <a:latin typeface="Consolas" charset="0"/>
                        <a:ea typeface="Consolas" charset="0"/>
                        <a:cs typeface="Consolas" charset="0"/>
                      </a:endParaRPr>
                    </a:p>
                  </a:txBody>
                  <a:tcPr marL="0" marR="50800" marT="38100" marB="381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solidFill>
                      <a:schemeClr val="accent3"/>
                    </a:solidFill>
                  </a:tcPr>
                </a:tc>
              </a:tr>
              <a:tr h="438912">
                <a:tc>
                  <a:txBody>
                    <a:bodyPr/>
                    <a:lstStyle/>
                    <a:p>
                      <a:pPr indent="0" marL="0">
                        <a:buNone/>
                      </a:pPr>
                      <a:r>
                        <a:rPr lang="en-US" sz="1400" dirty="0">
                          <a:solidFill>
                            <a:schemeClr val="tx1"/>
                          </a:solidFill>
                        </a:rPr>
                        <a:t>Softlock</a:t>
                      </a:r>
                      <a:endParaRPr lang="en-US" sz="1400" dirty="0"/>
                    </a:p>
                  </a:txBody>
                  <a:tcPr marL="0" marR="50800" marT="38100" marB="381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tcPr>
                </a:tc>
                <a:tc>
                  <a:txBody>
                    <a:bodyPr/>
                    <a:lstStyle/>
                    <a:p>
                      <a:pPr indent="0" marL="0">
                        <a:buNone/>
                      </a:pPr>
                      <a:r>
                        <a:rPr lang="en-US" sz="1100" dirty="0">
                          <a:solidFill>
                            <a:schemeClr val="tx1"/>
                          </a:solidFill>
                          <a:latin typeface="Consolas" pitchFamily="34" charset="0"/>
                          <a:ea typeface="Consolas" pitchFamily="34" charset="-122"/>
                          <a:cs typeface="Consolas" pitchFamily="34" charset="-120"/>
                        </a:rPr>
                        <a:t>[detector results]</a:t>
                      </a:r>
                      <a:endParaRPr lang="en-US" sz="1100" dirty="0">
                        <a:latin typeface="Consolas" charset="0"/>
                        <a:ea typeface="Consolas" charset="0"/>
                        <a:cs typeface="Consolas" charset="0"/>
                      </a:endParaRPr>
                    </a:p>
                  </a:txBody>
                  <a:tcPr marL="0" marR="50800" marT="38100" marB="38100" anchor="ctr">
                    <a:lnL w="0" cap="flat" cmpd="sng" algn="ctr">
                      <a:noFill/>
                    </a:lnL>
                    <a:lnR w="0" cap="flat" cmpd="sng" algn="ctr">
                      <a:noFill/>
                    </a:lnR>
                    <a:lnT w="0" cap="flat" cmpd="sng" algn="ctr">
                      <a:noFill/>
                    </a:lnT>
                    <a:lnB w="9525" cap="flat" cmpd="sng" algn="ctr">
                      <a:solidFill>
                        <a:schemeClr val="accent2"/>
                      </a:solidFill>
                      <a:prstDash val="solid"/>
                      <a:round/>
                      <a:headEnd type="none" w="med" len="med"/>
                      <a:tailEnd type="none" w="med" len="med"/>
                    </a:lnB>
                    <a:solidFill>
                      <a:schemeClr val="accent3"/>
                    </a:solidFill>
                  </a:tcPr>
                </a:tc>
              </a:tr>
            </a:tbl>
          </a:graphicData>
        </a:graphic>
      </p:graphicFrame>
      <p:sp>
        <p:nvSpPr>
          <p:cNvPr id="25" name="Slide Number Placeholder 0"/>
          <p:cNvSpPr>
            <a:spLocks noGrp="1"/>
          </p:cNvSpPr>
          <p:nvPr>
            <p:ph type="sldNum" sz="quarter" idx="4294967295"/>
          </p:nvPr>
        </p:nvSpPr>
        <p:spPr>
          <a:xfrm>
            <a:off x="713232" y="786384"/>
            <a:ext cx="54864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1"/>
                </a:solidFill>
                <a:latin typeface="Consolas"/>
                <a:ea typeface="Consolas"/>
                <a:cs typeface="Consolas"/>
              </a:defRPr>
            </a:lvl1pPr>
          </a:lstStyle>
          <a:p>
            <a:pPr algn="l"/>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1472184" y="786384"/>
            <a:ext cx="6583680" cy="292608"/>
          </a:xfrm>
          <a:prstGeom prst="rect">
            <a:avLst/>
          </a:prstGeom>
          <a:noFill/>
          <a:ln/>
        </p:spPr>
        <p:txBody>
          <a:bodyPr wrap="square" lIns="0" tIns="0" rIns="0" bIns="0" rtlCol="0" anchor="ctr"/>
          <a:lstStyle/>
          <a:p>
            <a:pPr indent="0" marL="0">
              <a:buNone/>
            </a:pPr>
            <a:r>
              <a:rPr lang="en-US" sz="1100" spc="100" kern="0" dirty="0">
                <a:solidFill>
                  <a:schemeClr val="tx2"/>
                </a:solidFill>
                <a:latin typeface="Consolas" pitchFamily="34" charset="0"/>
                <a:ea typeface="Consolas" pitchFamily="34" charset="-122"/>
                <a:cs typeface="Consolas" pitchFamily="34" charset="-120"/>
              </a:rPr>
              <a:t>FEASIBILITY</a:t>
            </a:r>
            <a:endParaRPr lang="en-US" sz="1100" dirty="0"/>
          </a:p>
        </p:txBody>
      </p:sp>
      <p:sp>
        <p:nvSpPr>
          <p:cNvPr id="3" name="Text 1"/>
          <p:cNvSpPr/>
          <p:nvPr>
            <p:ph idx="102" type="body" hasCustomPrompt="1"/>
          </p:nvPr>
        </p:nvSpPr>
        <p:spPr>
          <a:xfrm>
            <a:off x="6400800" y="786384"/>
            <a:ext cx="5077663" cy="292608"/>
          </a:xfrm>
          <a:prstGeom prst="rect">
            <a:avLst/>
          </a:prstGeom>
          <a:noFill/>
          <a:ln/>
        </p:spPr>
        <p:txBody>
          <a:bodyPr wrap="square" lIns="0" tIns="0" rIns="0" bIns="0" rtlCol="0" anchor="ctr"/>
          <a:lstStyle/>
          <a:p>
            <a:pPr algn="r" indent="0" marL="0">
              <a:buNone/>
            </a:pPr>
            <a:r>
              <a:rPr lang="en-US" sz="1100" dirty="0">
                <a:solidFill>
                  <a:schemeClr val="tx2"/>
                </a:solidFill>
                <a:latin typeface="Consolas" pitchFamily="34" charset="0"/>
                <a:ea typeface="Consolas" pitchFamily="34" charset="-122"/>
                <a:cs typeface="Consolas" pitchFamily="34" charset="-120"/>
              </a:rPr>
              <a:t>Unit economics · integration</a:t>
            </a:r>
            <a:endParaRPr lang="en-US" sz="1100" dirty="0"/>
          </a:p>
        </p:txBody>
      </p:sp>
      <p:sp>
        <p:nvSpPr>
          <p:cNvPr id="5" name="Shape 2"/>
          <p:cNvSpPr/>
          <p:nvPr/>
        </p:nvSpPr>
        <p:spPr>
          <a:xfrm>
            <a:off x="713232" y="1417320"/>
            <a:ext cx="10765231" cy="0"/>
          </a:xfrm>
          <a:prstGeom prst="line">
            <a:avLst/>
          </a:prstGeom>
          <a:noFill/>
          <a:ln w="19050">
            <a:solidFill>
              <a:schemeClr val="tx1"/>
            </a:solidFill>
            <a:prstDash val="solid"/>
          </a:ln>
        </p:spPr>
      </p:sp>
      <p:sp>
        <p:nvSpPr>
          <p:cNvPr id="6" name="Text 3"/>
          <p:cNvSpPr txBox="1"/>
          <p:nvPr/>
        </p:nvSpPr>
        <p:spPr>
          <a:xfrm>
            <a:off x="713232" y="1572768"/>
            <a:ext cx="5382616" cy="256032"/>
          </a:xfrm>
          <a:prstGeom prst="rect">
            <a:avLst/>
          </a:prstGeom>
          <a:noFill/>
          <a:ln/>
        </p:spPr>
        <p:txBody>
          <a:bodyPr wrap="square" lIns="0" tIns="0" rIns="0" bIns="0" rtlCol="0" anchor="t"/>
          <a:lstStyle/>
          <a:p>
            <a:pPr indent="0" marL="0">
              <a:buNone/>
            </a:pPr>
            <a:r>
              <a:rPr lang="en-US" sz="1000" spc="200" kern="0" dirty="0">
                <a:solidFill>
                  <a:schemeClr val="tx2"/>
                </a:solidFill>
                <a:latin typeface="Consolas" pitchFamily="34" charset="0"/>
                <a:ea typeface="Consolas" pitchFamily="34" charset="-122"/>
                <a:cs typeface="Consolas" pitchFamily="34" charset="-120"/>
              </a:rPr>
              <a:t>HUMAN QA</a:t>
            </a:r>
            <a:endParaRPr lang="en-US" sz="1000" dirty="0"/>
          </a:p>
        </p:txBody>
      </p:sp>
      <p:sp>
        <p:nvSpPr>
          <p:cNvPr id="7" name="Text 4"/>
          <p:cNvSpPr txBox="1"/>
          <p:nvPr/>
        </p:nvSpPr>
        <p:spPr>
          <a:xfrm>
            <a:off x="6095848" y="1572768"/>
            <a:ext cx="5382616" cy="256032"/>
          </a:xfrm>
          <a:prstGeom prst="rect">
            <a:avLst/>
          </a:prstGeom>
          <a:noFill/>
          <a:ln/>
        </p:spPr>
        <p:txBody>
          <a:bodyPr wrap="square" lIns="0" tIns="0" rIns="0" bIns="0" rtlCol="0" anchor="t"/>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INDIEQA · LOCAL COMPUTE</a:t>
            </a:r>
            <a:endParaRPr lang="en-US" sz="1000" dirty="0"/>
          </a:p>
        </p:txBody>
      </p:sp>
      <p:sp>
        <p:nvSpPr>
          <p:cNvPr id="8" name="Cost stat"/>
          <p:cNvSpPr txBox="1"/>
          <p:nvPr/>
        </p:nvSpPr>
        <p:spPr>
          <a:xfrm>
            <a:off x="667512" y="1783080"/>
            <a:ext cx="5382616" cy="1371600"/>
          </a:xfrm>
          <a:prstGeom prst="rect">
            <a:avLst/>
          </a:prstGeom>
          <a:noFill/>
          <a:ln/>
        </p:spPr>
        <p:txBody>
          <a:bodyPr wrap="square" lIns="0" tIns="0" rIns="0" bIns="0" rtlCol="0" anchor="b"/>
          <a:lstStyle/>
          <a:p>
            <a:pPr indent="0" marL="0">
              <a:buNone/>
            </a:pPr>
            <a:r>
              <a:rPr lang="en-US" sz="9600" b="1" spc="-300" kern="0" dirty="0">
                <a:solidFill>
                  <a:schemeClr val="tx1"/>
                </a:solidFill>
              </a:rPr>
              <a:t>$25</a:t>
            </a:r>
            <a:pPr indent="0" marL="0">
              <a:buNone/>
            </a:pPr>
            <a:r>
              <a:rPr lang="en-US" sz="3600" b="1" dirty="0">
                <a:solidFill>
                  <a:schemeClr val="tx1"/>
                </a:solidFill>
              </a:rPr>
              <a:t> /h</a:t>
            </a:r>
            <a:endParaRPr lang="en-US" sz="9600" dirty="0"/>
          </a:p>
        </p:txBody>
      </p:sp>
      <p:sp>
        <p:nvSpPr>
          <p:cNvPr id="9" name="Cost stat"/>
          <p:cNvSpPr txBox="1"/>
          <p:nvPr/>
        </p:nvSpPr>
        <p:spPr>
          <a:xfrm>
            <a:off x="6050128" y="1783080"/>
            <a:ext cx="5382616" cy="1371600"/>
          </a:xfrm>
          <a:prstGeom prst="rect">
            <a:avLst/>
          </a:prstGeom>
          <a:noFill/>
          <a:ln/>
        </p:spPr>
        <p:txBody>
          <a:bodyPr wrap="square" lIns="0" tIns="0" rIns="0" bIns="0" rtlCol="0" anchor="b"/>
          <a:lstStyle/>
          <a:p>
            <a:pPr indent="0" marL="0">
              <a:buNone/>
            </a:pPr>
            <a:r>
              <a:rPr lang="en-US" sz="9600" b="1" spc="-300" kern="0" dirty="0">
                <a:solidFill>
                  <a:schemeClr val="accent1"/>
                </a:solidFill>
              </a:rPr>
              <a:t>$0.04</a:t>
            </a:r>
            <a:pPr indent="0" marL="0">
              <a:buNone/>
            </a:pPr>
            <a:r>
              <a:rPr lang="en-US" sz="3600" b="1" dirty="0">
                <a:solidFill>
                  <a:schemeClr val="accent1"/>
                </a:solidFill>
              </a:rPr>
              <a:t> /h</a:t>
            </a:r>
            <a:endParaRPr lang="en-US" sz="9600" dirty="0"/>
          </a:p>
        </p:txBody>
      </p:sp>
      <p:sp>
        <p:nvSpPr>
          <p:cNvPr id="10" name="Text 7"/>
          <p:cNvSpPr txBox="1"/>
          <p:nvPr/>
        </p:nvSpPr>
        <p:spPr>
          <a:xfrm>
            <a:off x="713232" y="3291840"/>
            <a:ext cx="10765231" cy="274320"/>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Team estimate. And one IndieQA hour covers far more than one hour of play: headless runs ~240× real time.</a:t>
            </a:r>
            <a:endParaRPr lang="en-US" sz="1100" dirty="0"/>
          </a:p>
        </p:txBody>
      </p:sp>
      <p:sp>
        <p:nvSpPr>
          <p:cNvPr id="11" name="Shape 8"/>
          <p:cNvSpPr/>
          <p:nvPr/>
        </p:nvSpPr>
        <p:spPr>
          <a:xfrm>
            <a:off x="713232" y="4206240"/>
            <a:ext cx="3405530" cy="0"/>
          </a:xfrm>
          <a:prstGeom prst="line">
            <a:avLst/>
          </a:prstGeom>
          <a:noFill/>
          <a:ln w="19050">
            <a:solidFill>
              <a:schemeClr val="tx1"/>
            </a:solidFill>
            <a:prstDash val="solid"/>
          </a:ln>
        </p:spPr>
      </p:sp>
      <p:sp>
        <p:nvSpPr>
          <p:cNvPr id="12" name="Text 9"/>
          <p:cNvSpPr txBox="1"/>
          <p:nvPr/>
        </p:nvSpPr>
        <p:spPr>
          <a:xfrm>
            <a:off x="713232" y="4343400"/>
            <a:ext cx="1737360" cy="256032"/>
          </a:xfrm>
          <a:prstGeom prst="rect">
            <a:avLst/>
          </a:prstGeom>
          <a:noFill/>
          <a:ln/>
        </p:spPr>
        <p:txBody>
          <a:bodyPr wrap="square" lIns="0" tIns="0" rIns="0" bIns="0" rtlCol="0" anchor="t"/>
          <a:lstStyle/>
          <a:p>
            <a:pPr indent="0" marL="0">
              <a:buNone/>
            </a:pPr>
            <a:r>
              <a:rPr lang="en-US" sz="1000" spc="200" kern="0" dirty="0">
                <a:solidFill>
                  <a:schemeClr val="tx2"/>
                </a:solidFill>
                <a:latin typeface="Consolas" pitchFamily="34" charset="0"/>
                <a:ea typeface="Consolas" pitchFamily="34" charset="-122"/>
                <a:cs typeface="Consolas" pitchFamily="34" charset="-120"/>
              </a:rPr>
              <a:t>NEEDS NOTHING</a:t>
            </a:r>
            <a:endParaRPr lang="en-US" sz="1000" dirty="0"/>
          </a:p>
        </p:txBody>
      </p:sp>
      <p:sp>
        <p:nvSpPr>
          <p:cNvPr id="13" name="Text 10"/>
          <p:cNvSpPr txBox="1"/>
          <p:nvPr/>
        </p:nvSpPr>
        <p:spPr>
          <a:xfrm>
            <a:off x="713232" y="4709160"/>
            <a:ext cx="3405530" cy="1280160"/>
          </a:xfrm>
          <a:prstGeom prst="rect">
            <a:avLst/>
          </a:prstGeom>
          <a:noFill/>
          <a:ln/>
        </p:spPr>
        <p:txBody>
          <a:bodyPr wrap="square" lIns="0" tIns="0" rIns="0" bIns="0" rtlCol="0" anchor="t"/>
          <a:lstStyle/>
          <a:p>
            <a:pPr indent="0" marL="0">
              <a:buNone/>
            </a:pPr>
            <a:r>
              <a:rPr lang="en-US" sz="1500" dirty="0">
                <a:solidFill>
                  <a:schemeClr val="tx1"/>
                </a:solidFill>
              </a:rPr>
              <a:t>No training data · no cloud · no API keys · no GPU. ~1 µs telemetry overhead per frame.</a:t>
            </a:r>
            <a:endParaRPr lang="en-US" sz="1500" dirty="0"/>
          </a:p>
        </p:txBody>
      </p:sp>
      <p:sp>
        <p:nvSpPr>
          <p:cNvPr id="14" name="Shape 11"/>
          <p:cNvSpPr/>
          <p:nvPr/>
        </p:nvSpPr>
        <p:spPr>
          <a:xfrm>
            <a:off x="4393082" y="4206240"/>
            <a:ext cx="3405530" cy="0"/>
          </a:xfrm>
          <a:prstGeom prst="line">
            <a:avLst/>
          </a:prstGeom>
          <a:noFill/>
          <a:ln w="19050">
            <a:solidFill>
              <a:schemeClr val="tx1"/>
            </a:solidFill>
            <a:prstDash val="solid"/>
          </a:ln>
        </p:spPr>
      </p:sp>
      <p:sp>
        <p:nvSpPr>
          <p:cNvPr id="15" name="Text 12"/>
          <p:cNvSpPr txBox="1"/>
          <p:nvPr/>
        </p:nvSpPr>
        <p:spPr>
          <a:xfrm>
            <a:off x="4393082" y="4343400"/>
            <a:ext cx="1737360" cy="256032"/>
          </a:xfrm>
          <a:prstGeom prst="rect">
            <a:avLst/>
          </a:prstGeom>
          <a:noFill/>
          <a:ln/>
        </p:spPr>
        <p:txBody>
          <a:bodyPr wrap="square" lIns="0" tIns="0" rIns="0" bIns="0" rtlCol="0" anchor="t"/>
          <a:lstStyle/>
          <a:p>
            <a:pPr indent="0" marL="0">
              <a:buNone/>
            </a:pPr>
            <a:r>
              <a:rPr lang="en-US" sz="1000" spc="200" kern="0" dirty="0">
                <a:solidFill>
                  <a:schemeClr val="tx2"/>
                </a:solidFill>
                <a:latin typeface="Consolas" pitchFamily="34" charset="0"/>
                <a:ea typeface="Consolas" pitchFamily="34" charset="-122"/>
                <a:cs typeface="Consolas" pitchFamily="34" charset="-120"/>
              </a:rPr>
              <a:t>BUILT TODAY</a:t>
            </a:r>
            <a:endParaRPr lang="en-US" sz="1000" dirty="0"/>
          </a:p>
        </p:txBody>
      </p:sp>
      <p:sp>
        <p:nvSpPr>
          <p:cNvPr id="16" name="Text 13"/>
          <p:cNvSpPr txBox="1"/>
          <p:nvPr/>
        </p:nvSpPr>
        <p:spPr>
          <a:xfrm>
            <a:off x="4393082" y="4709160"/>
            <a:ext cx="3405530" cy="1280160"/>
          </a:xfrm>
          <a:prstGeom prst="rect">
            <a:avLst/>
          </a:prstGeom>
          <a:noFill/>
          <a:ln/>
        </p:spPr>
        <p:txBody>
          <a:bodyPr wrap="square" lIns="0" tIns="0" rIns="0" bIns="0" rtlCol="0" anchor="t"/>
          <a:lstStyle/>
          <a:p>
            <a:pPr indent="0" marL="0">
              <a:buNone/>
            </a:pPr>
            <a:r>
              <a:rPr lang="en-US" sz="1500" dirty="0">
                <a:solidFill>
                  <a:schemeClr val="tx1"/>
                </a:solidFill>
              </a:rPr>
              <a:t>Python + Pygame engine, agent, telemetry, detector, reporter, Streamlit dashboard. One command.</a:t>
            </a:r>
            <a:endParaRPr lang="en-US" sz="1500" dirty="0"/>
          </a:p>
        </p:txBody>
      </p:sp>
      <p:sp>
        <p:nvSpPr>
          <p:cNvPr id="17" name="Shape 14"/>
          <p:cNvSpPr/>
          <p:nvPr/>
        </p:nvSpPr>
        <p:spPr>
          <a:xfrm>
            <a:off x="8072933" y="4206240"/>
            <a:ext cx="3405530" cy="0"/>
          </a:xfrm>
          <a:prstGeom prst="line">
            <a:avLst/>
          </a:prstGeom>
          <a:noFill/>
          <a:ln w="19050">
            <a:solidFill>
              <a:schemeClr val="tx1"/>
            </a:solidFill>
            <a:prstDash val="dash"/>
          </a:ln>
        </p:spPr>
      </p:sp>
      <p:sp>
        <p:nvSpPr>
          <p:cNvPr id="18" name="Text 15"/>
          <p:cNvSpPr txBox="1"/>
          <p:nvPr/>
        </p:nvSpPr>
        <p:spPr>
          <a:xfrm>
            <a:off x="8072933" y="4343400"/>
            <a:ext cx="1737360" cy="256032"/>
          </a:xfrm>
          <a:prstGeom prst="rect">
            <a:avLst/>
          </a:prstGeom>
          <a:noFill/>
          <a:ln/>
        </p:spPr>
        <p:txBody>
          <a:bodyPr wrap="square" lIns="0" tIns="0" rIns="0" bIns="0" rtlCol="0" anchor="t"/>
          <a:lstStyle/>
          <a:p>
            <a:pPr indent="0" marL="0">
              <a:buNone/>
            </a:pPr>
            <a:r>
              <a:rPr lang="en-US" sz="1000" spc="200" kern="0" dirty="0">
                <a:solidFill>
                  <a:schemeClr val="tx2"/>
                </a:solidFill>
                <a:latin typeface="Consolas" pitchFamily="34" charset="0"/>
                <a:ea typeface="Consolas" pitchFamily="34" charset="-122"/>
                <a:cs typeface="Consolas" pitchFamily="34" charset="-120"/>
              </a:rPr>
              <a:t>UNITY &amp; GODOT</a:t>
            </a:r>
            <a:endParaRPr lang="en-US" sz="1000" dirty="0"/>
          </a:p>
        </p:txBody>
      </p:sp>
      <p:sp>
        <p:nvSpPr>
          <p:cNvPr id="19" name="Roadmap tag"/>
          <p:cNvSpPr txBox="1"/>
          <p:nvPr/>
        </p:nvSpPr>
        <p:spPr>
          <a:xfrm>
            <a:off x="9673133" y="4297680"/>
            <a:ext cx="960120" cy="274320"/>
          </a:xfrm>
          <a:prstGeom prst="rect">
            <a:avLst/>
          </a:prstGeom>
          <a:noFill/>
          <a:ln w="12700">
            <a:solidFill>
              <a:schemeClr val="tx1"/>
            </a:solidFill>
          </a:ln>
        </p:spPr>
        <p:txBody>
          <a:bodyPr wrap="square" lIns="0" tIns="0" rIns="0" bIns="0" rtlCol="0" anchor="ctr"/>
          <a:lstStyle/>
          <a:p>
            <a:pPr algn="ctr" indent="0" marL="0">
              <a:buNone/>
            </a:pPr>
            <a:r>
              <a:rPr lang="en-US" sz="1000" b="1" spc="200" kern="0" dirty="0">
                <a:solidFill>
                  <a:schemeClr val="tx1"/>
                </a:solidFill>
                <a:latin typeface="Consolas" pitchFamily="34" charset="0"/>
                <a:ea typeface="Consolas" pitchFamily="34" charset="-122"/>
                <a:cs typeface="Consolas" pitchFamily="34" charset="-120"/>
              </a:rPr>
              <a:t>ROADMAP</a:t>
            </a:r>
            <a:endParaRPr lang="en-US" sz="1000" dirty="0"/>
          </a:p>
        </p:txBody>
      </p:sp>
      <p:sp>
        <p:nvSpPr>
          <p:cNvPr id="20" name="Text 17"/>
          <p:cNvSpPr txBox="1"/>
          <p:nvPr/>
        </p:nvSpPr>
        <p:spPr>
          <a:xfrm>
            <a:off x="8072933" y="4709160"/>
            <a:ext cx="3405530" cy="1280160"/>
          </a:xfrm>
          <a:prstGeom prst="rect">
            <a:avLst/>
          </a:prstGeom>
          <a:noFill/>
          <a:ln/>
        </p:spPr>
        <p:txBody>
          <a:bodyPr wrap="square" lIns="0" tIns="0" rIns="0" bIns="0" rtlCol="0" anchor="t"/>
          <a:lstStyle/>
          <a:p>
            <a:pPr indent="0" marL="0">
              <a:buNone/>
            </a:pPr>
            <a:r>
              <a:rPr lang="en-US" sz="1500" dirty="0">
                <a:solidFill>
                  <a:schemeClr val="tx1"/>
                </a:solidFill>
              </a:rPr>
              <a:t>Plug-ins in C# and GDScript stream the same telemetry format over WebSocket. Same detector, same dashboard. Not built yet.</a:t>
            </a:r>
            <a:endParaRPr lang="en-US" sz="1500" dirty="0"/>
          </a:p>
        </p:txBody>
      </p:sp>
      <p:sp>
        <p:nvSpPr>
          <p:cNvPr id="25" name="Slide Number Placeholder 0"/>
          <p:cNvSpPr>
            <a:spLocks noGrp="1"/>
          </p:cNvSpPr>
          <p:nvPr>
            <p:ph type="sldNum" sz="quarter" idx="4294967295"/>
          </p:nvPr>
        </p:nvSpPr>
        <p:spPr>
          <a:xfrm>
            <a:off x="713232" y="786384"/>
            <a:ext cx="54864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1"/>
                </a:solidFill>
                <a:latin typeface="Consolas"/>
                <a:ea typeface="Consolas"/>
                <a:cs typeface="Consolas"/>
              </a:defRPr>
            </a:lvl1pPr>
          </a:lstStyle>
          <a:p>
            <a:pPr algn="l"/>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1472184" y="786384"/>
            <a:ext cx="6583680" cy="292608"/>
          </a:xfrm>
          <a:prstGeom prst="rect">
            <a:avLst/>
          </a:prstGeom>
          <a:noFill/>
          <a:ln/>
        </p:spPr>
        <p:txBody>
          <a:bodyPr wrap="square" lIns="0" tIns="0" rIns="0" bIns="0" rtlCol="0" anchor="ctr"/>
          <a:lstStyle/>
          <a:p>
            <a:pPr indent="0" marL="0">
              <a:buNone/>
            </a:pPr>
            <a:r>
              <a:rPr lang="en-US" sz="1100" spc="100" kern="0" dirty="0">
                <a:solidFill>
                  <a:schemeClr val="tx2"/>
                </a:solidFill>
                <a:latin typeface="Consolas" pitchFamily="34" charset="0"/>
                <a:ea typeface="Consolas" pitchFamily="34" charset="-122"/>
                <a:cs typeface="Consolas" pitchFamily="34" charset="-120"/>
              </a:rPr>
              <a:t>TEAM</a:t>
            </a:r>
            <a:endParaRPr lang="en-US" sz="1100" dirty="0"/>
          </a:p>
        </p:txBody>
      </p:sp>
      <p:sp>
        <p:nvSpPr>
          <p:cNvPr id="3" name="Text 1"/>
          <p:cNvSpPr/>
          <p:nvPr>
            <p:ph idx="102" type="body" hasCustomPrompt="1"/>
          </p:nvPr>
        </p:nvSpPr>
        <p:spPr>
          <a:xfrm>
            <a:off x="6400800" y="786384"/>
            <a:ext cx="5077663" cy="292608"/>
          </a:xfrm>
          <a:prstGeom prst="rect">
            <a:avLst/>
          </a:prstGeom>
          <a:noFill/>
          <a:ln/>
        </p:spPr>
        <p:txBody>
          <a:bodyPr wrap="square" lIns="0" tIns="0" rIns="0" bIns="0" rtlCol="0" anchor="ctr"/>
          <a:lstStyle/>
          <a:p>
            <a:pPr algn="r" indent="0" marL="0">
              <a:buNone/>
            </a:pPr>
            <a:r>
              <a:rPr lang="en-US" sz="1100" dirty="0">
                <a:solidFill>
                  <a:schemeClr val="tx2"/>
                </a:solidFill>
                <a:latin typeface="Consolas" pitchFamily="34" charset="0"/>
                <a:ea typeface="Consolas" pitchFamily="34" charset="-122"/>
                <a:cs typeface="Consolas" pitchFamily="34" charset="-120"/>
              </a:rPr>
              <a:t>4 people</a:t>
            </a:r>
            <a:endParaRPr lang="en-US" sz="1100" dirty="0"/>
          </a:p>
        </p:txBody>
      </p:sp>
      <p:sp>
        <p:nvSpPr>
          <p:cNvPr id="5" name="Text 1"/>
          <p:cNvSpPr/>
          <p:nvPr>
            <p:ph idx="103" type="title" hasCustomPrompt="1"/>
          </p:nvPr>
        </p:nvSpPr>
        <p:spPr>
          <a:xfrm>
            <a:off x="713232" y="1325880"/>
            <a:ext cx="10765231" cy="1280160"/>
          </a:xfrm>
          <a:prstGeom prst="rect">
            <a:avLst/>
          </a:prstGeom>
          <a:noFill/>
          <a:ln/>
        </p:spPr>
        <p:txBody>
          <a:bodyPr wrap="square" lIns="0" tIns="0" rIns="0" bIns="0" rtlCol="0" anchor="t"/>
          <a:lstStyle/>
          <a:p>
            <a:pPr algn="l" indent="0" marL="0">
              <a:lnSpc>
                <a:spcPct val="92000"/>
              </a:lnSpc>
              <a:buNone/>
            </a:pPr>
            <a:r>
              <a:rPr lang="en-US" sz="4400" b="1" dirty="0">
                <a:solidFill>
                  <a:schemeClr val="tx1"/>
                </a:solidFill>
              </a:rPr>
              <a:t>Four people, one pipeline</a:t>
            </a:r>
            <a:endParaRPr lang="en-US" sz="4400" dirty="0"/>
          </a:p>
        </p:txBody>
      </p:sp>
      <p:sp>
        <p:nvSpPr>
          <p:cNvPr id="6" name="Shape 3"/>
          <p:cNvSpPr/>
          <p:nvPr/>
        </p:nvSpPr>
        <p:spPr>
          <a:xfrm>
            <a:off x="713232" y="2606040"/>
            <a:ext cx="2485568" cy="0"/>
          </a:xfrm>
          <a:prstGeom prst="line">
            <a:avLst/>
          </a:prstGeom>
          <a:noFill/>
          <a:ln w="19050">
            <a:solidFill>
              <a:schemeClr val="tx1"/>
            </a:solidFill>
            <a:prstDash val="solid"/>
          </a:ln>
        </p:spPr>
      </p:sp>
      <p:sp>
        <p:nvSpPr>
          <p:cNvPr id="7" name="Text 4"/>
          <p:cNvSpPr txBox="1"/>
          <p:nvPr/>
        </p:nvSpPr>
        <p:spPr>
          <a:xfrm>
            <a:off x="713232" y="2743200"/>
            <a:ext cx="2485568" cy="274320"/>
          </a:xfrm>
          <a:prstGeom prst="rect">
            <a:avLst/>
          </a:prstGeom>
          <a:noFill/>
          <a:ln/>
        </p:spPr>
        <p:txBody>
          <a:bodyPr wrap="square" lIns="0" tIns="0" rIns="0" bIns="0" rtlCol="0" anchor="t"/>
          <a:lstStyle/>
          <a:p>
            <a:pPr indent="0" marL="0">
              <a:buNone/>
            </a:pPr>
            <a:r>
              <a:rPr lang="en-US" sz="1100" b="1" dirty="0">
                <a:solidFill>
                  <a:schemeClr val="accent1"/>
                </a:solidFill>
                <a:latin typeface="Consolas" pitchFamily="34" charset="0"/>
                <a:ea typeface="Consolas" pitchFamily="34" charset="-122"/>
                <a:cs typeface="Consolas" pitchFamily="34" charset="-120"/>
              </a:rPr>
              <a:t>P1</a:t>
            </a:r>
            <a:endParaRPr lang="en-US" sz="1100" dirty="0"/>
          </a:p>
        </p:txBody>
      </p:sp>
      <p:sp>
        <p:nvSpPr>
          <p:cNvPr id="8" name="Text 5"/>
          <p:cNvSpPr txBox="1"/>
          <p:nvPr/>
        </p:nvSpPr>
        <p:spPr>
          <a:xfrm>
            <a:off x="713232" y="3017520"/>
            <a:ext cx="2485568" cy="411480"/>
          </a:xfrm>
          <a:prstGeom prst="rect">
            <a:avLst/>
          </a:prstGeom>
          <a:noFill/>
          <a:ln/>
        </p:spPr>
        <p:txBody>
          <a:bodyPr wrap="square" lIns="0" tIns="0" rIns="0" bIns="0" rtlCol="0" anchor="t"/>
          <a:lstStyle/>
          <a:p>
            <a:pPr indent="0" marL="0">
              <a:buNone/>
            </a:pPr>
            <a:r>
              <a:rPr lang="en-US" sz="2200" b="1" dirty="0">
                <a:solidFill>
                  <a:schemeClr val="tx1"/>
                </a:solidFill>
              </a:rPr>
              <a:t>Engine &amp; agent</a:t>
            </a:r>
            <a:endParaRPr lang="en-US" sz="2200" dirty="0"/>
          </a:p>
        </p:txBody>
      </p:sp>
      <p:sp>
        <p:nvSpPr>
          <p:cNvPr id="9" name="Text 6"/>
          <p:cNvSpPr txBox="1"/>
          <p:nvPr/>
        </p:nvSpPr>
        <p:spPr>
          <a:xfrm>
            <a:off x="713232" y="3474720"/>
            <a:ext cx="2485568" cy="685800"/>
          </a:xfrm>
          <a:prstGeom prst="rect">
            <a:avLst/>
          </a:prstGeom>
          <a:noFill/>
          <a:ln/>
        </p:spPr>
        <p:txBody>
          <a:bodyPr wrap="square" lIns="0" tIns="0" rIns="0" bIns="0" rtlCol="0" anchor="t"/>
          <a:lstStyle/>
          <a:p>
            <a:pPr indent="0" marL="0">
              <a:buNone/>
            </a:pPr>
            <a:r>
              <a:rPr lang="en-US" sz="1400" dirty="0">
                <a:solidFill>
                  <a:schemeClr val="tx1"/>
                </a:solidFill>
              </a:rPr>
              <a:t>Physics engine, planted glitches, telemetry, autonomous agent.</a:t>
            </a:r>
            <a:endParaRPr lang="en-US" sz="1400" dirty="0"/>
          </a:p>
        </p:txBody>
      </p:sp>
      <p:sp>
        <p:nvSpPr>
          <p:cNvPr id="10" name="Fill in"/>
          <p:cNvSpPr txBox="1"/>
          <p:nvPr/>
        </p:nvSpPr>
        <p:spPr>
          <a:xfrm>
            <a:off x="713232" y="4251960"/>
            <a:ext cx="914400" cy="292608"/>
          </a:xfrm>
          <a:prstGeom prst="rect">
            <a:avLst/>
          </a:prstGeom>
          <a:solidFill>
            <a:schemeClr val="accent3"/>
          </a:solidFill>
          <a:ln/>
        </p:spPr>
        <p:txBody>
          <a:bodyPr wrap="square" lIns="50800" tIns="50800" rIns="50800" bIns="50800" rtlCol="0" anchor="ctr"/>
          <a:lstStyle/>
          <a:p>
            <a:pPr indent="0" marL="0">
              <a:buNone/>
            </a:pPr>
            <a:r>
              <a:rPr lang="en-US" sz="1200" dirty="0">
                <a:solidFill>
                  <a:schemeClr val="tx1"/>
                </a:solidFill>
                <a:latin typeface="Consolas" pitchFamily="34" charset="0"/>
                <a:ea typeface="Consolas" pitchFamily="34" charset="-122"/>
                <a:cs typeface="Consolas" pitchFamily="34" charset="-120"/>
              </a:rPr>
              <a:t>[Name]</a:t>
            </a:r>
            <a:endParaRPr lang="en-US" sz="1200" dirty="0"/>
          </a:p>
        </p:txBody>
      </p:sp>
      <p:sp>
        <p:nvSpPr>
          <p:cNvPr id="11" name="Shape 8"/>
          <p:cNvSpPr/>
          <p:nvPr/>
        </p:nvSpPr>
        <p:spPr>
          <a:xfrm>
            <a:off x="3473120" y="2606040"/>
            <a:ext cx="2485568" cy="0"/>
          </a:xfrm>
          <a:prstGeom prst="line">
            <a:avLst/>
          </a:prstGeom>
          <a:noFill/>
          <a:ln w="19050">
            <a:solidFill>
              <a:schemeClr val="tx1"/>
            </a:solidFill>
            <a:prstDash val="solid"/>
          </a:ln>
        </p:spPr>
      </p:sp>
      <p:sp>
        <p:nvSpPr>
          <p:cNvPr id="12" name="Text 9"/>
          <p:cNvSpPr txBox="1"/>
          <p:nvPr/>
        </p:nvSpPr>
        <p:spPr>
          <a:xfrm>
            <a:off x="3473120" y="2743200"/>
            <a:ext cx="2485568" cy="274320"/>
          </a:xfrm>
          <a:prstGeom prst="rect">
            <a:avLst/>
          </a:prstGeom>
          <a:noFill/>
          <a:ln/>
        </p:spPr>
        <p:txBody>
          <a:bodyPr wrap="square" lIns="0" tIns="0" rIns="0" bIns="0" rtlCol="0" anchor="t"/>
          <a:lstStyle/>
          <a:p>
            <a:pPr indent="0" marL="0">
              <a:buNone/>
            </a:pPr>
            <a:r>
              <a:rPr lang="en-US" sz="1100" b="1" dirty="0">
                <a:solidFill>
                  <a:schemeClr val="accent1"/>
                </a:solidFill>
                <a:latin typeface="Consolas" pitchFamily="34" charset="0"/>
                <a:ea typeface="Consolas" pitchFamily="34" charset="-122"/>
                <a:cs typeface="Consolas" pitchFamily="34" charset="-120"/>
              </a:rPr>
              <a:t>P2</a:t>
            </a:r>
            <a:endParaRPr lang="en-US" sz="1100" dirty="0"/>
          </a:p>
        </p:txBody>
      </p:sp>
      <p:sp>
        <p:nvSpPr>
          <p:cNvPr id="13" name="Text 10"/>
          <p:cNvSpPr txBox="1"/>
          <p:nvPr/>
        </p:nvSpPr>
        <p:spPr>
          <a:xfrm>
            <a:off x="3473120" y="3017520"/>
            <a:ext cx="2485568" cy="411480"/>
          </a:xfrm>
          <a:prstGeom prst="rect">
            <a:avLst/>
          </a:prstGeom>
          <a:noFill/>
          <a:ln/>
        </p:spPr>
        <p:txBody>
          <a:bodyPr wrap="square" lIns="0" tIns="0" rIns="0" bIns="0" rtlCol="0" anchor="t"/>
          <a:lstStyle/>
          <a:p>
            <a:pPr indent="0" marL="0">
              <a:buNone/>
            </a:pPr>
            <a:r>
              <a:rPr lang="en-US" sz="2200" b="1" dirty="0">
                <a:solidFill>
                  <a:schemeClr val="tx1"/>
                </a:solidFill>
              </a:rPr>
              <a:t>Detection</a:t>
            </a:r>
            <a:endParaRPr lang="en-US" sz="2200" dirty="0"/>
          </a:p>
        </p:txBody>
      </p:sp>
      <p:sp>
        <p:nvSpPr>
          <p:cNvPr id="14" name="Text 11"/>
          <p:cNvSpPr txBox="1"/>
          <p:nvPr/>
        </p:nvSpPr>
        <p:spPr>
          <a:xfrm>
            <a:off x="3473120" y="3474720"/>
            <a:ext cx="2485568" cy="685800"/>
          </a:xfrm>
          <a:prstGeom prst="rect">
            <a:avLst/>
          </a:prstGeom>
          <a:noFill/>
          <a:ln/>
        </p:spPr>
        <p:txBody>
          <a:bodyPr wrap="square" lIns="0" tIns="0" rIns="0" bIns="0" rtlCol="0" anchor="t"/>
          <a:lstStyle/>
          <a:p>
            <a:pPr indent="0" marL="0">
              <a:buNone/>
            </a:pPr>
            <a:r>
              <a:rPr lang="en-US" sz="1400" dirty="0">
                <a:solidFill>
                  <a:schemeClr val="tx1"/>
                </a:solidFill>
              </a:rPr>
              <a:t>Bug detector and per-bug reporter.</a:t>
            </a:r>
            <a:endParaRPr lang="en-US" sz="1400" dirty="0"/>
          </a:p>
        </p:txBody>
      </p:sp>
      <p:sp>
        <p:nvSpPr>
          <p:cNvPr id="15" name="Fill in"/>
          <p:cNvSpPr txBox="1"/>
          <p:nvPr/>
        </p:nvSpPr>
        <p:spPr>
          <a:xfrm>
            <a:off x="3473120" y="4251960"/>
            <a:ext cx="914400" cy="292608"/>
          </a:xfrm>
          <a:prstGeom prst="rect">
            <a:avLst/>
          </a:prstGeom>
          <a:solidFill>
            <a:schemeClr val="accent3"/>
          </a:solidFill>
          <a:ln/>
        </p:spPr>
        <p:txBody>
          <a:bodyPr wrap="square" lIns="50800" tIns="50800" rIns="50800" bIns="50800" rtlCol="0" anchor="ctr"/>
          <a:lstStyle/>
          <a:p>
            <a:pPr indent="0" marL="0">
              <a:buNone/>
            </a:pPr>
            <a:r>
              <a:rPr lang="en-US" sz="1200" dirty="0">
                <a:solidFill>
                  <a:schemeClr val="tx1"/>
                </a:solidFill>
                <a:latin typeface="Consolas" pitchFamily="34" charset="0"/>
                <a:ea typeface="Consolas" pitchFamily="34" charset="-122"/>
                <a:cs typeface="Consolas" pitchFamily="34" charset="-120"/>
              </a:rPr>
              <a:t>[Name]</a:t>
            </a:r>
            <a:endParaRPr lang="en-US" sz="1200" dirty="0"/>
          </a:p>
        </p:txBody>
      </p:sp>
      <p:sp>
        <p:nvSpPr>
          <p:cNvPr id="16" name="Shape 13"/>
          <p:cNvSpPr/>
          <p:nvPr/>
        </p:nvSpPr>
        <p:spPr>
          <a:xfrm>
            <a:off x="6233008" y="2606040"/>
            <a:ext cx="2485568" cy="0"/>
          </a:xfrm>
          <a:prstGeom prst="line">
            <a:avLst/>
          </a:prstGeom>
          <a:noFill/>
          <a:ln w="19050">
            <a:solidFill>
              <a:schemeClr val="tx1"/>
            </a:solidFill>
            <a:prstDash val="solid"/>
          </a:ln>
        </p:spPr>
      </p:sp>
      <p:sp>
        <p:nvSpPr>
          <p:cNvPr id="17" name="Text 14"/>
          <p:cNvSpPr txBox="1"/>
          <p:nvPr/>
        </p:nvSpPr>
        <p:spPr>
          <a:xfrm>
            <a:off x="6233008" y="2743200"/>
            <a:ext cx="2485568" cy="274320"/>
          </a:xfrm>
          <a:prstGeom prst="rect">
            <a:avLst/>
          </a:prstGeom>
          <a:noFill/>
          <a:ln/>
        </p:spPr>
        <p:txBody>
          <a:bodyPr wrap="square" lIns="0" tIns="0" rIns="0" bIns="0" rtlCol="0" anchor="t"/>
          <a:lstStyle/>
          <a:p>
            <a:pPr indent="0" marL="0">
              <a:buNone/>
            </a:pPr>
            <a:r>
              <a:rPr lang="en-US" sz="1100" b="1" dirty="0">
                <a:solidFill>
                  <a:schemeClr val="accent1"/>
                </a:solidFill>
                <a:latin typeface="Consolas" pitchFamily="34" charset="0"/>
                <a:ea typeface="Consolas" pitchFamily="34" charset="-122"/>
                <a:cs typeface="Consolas" pitchFamily="34" charset="-120"/>
              </a:rPr>
              <a:t>P3</a:t>
            </a:r>
            <a:endParaRPr lang="en-US" sz="1100" dirty="0"/>
          </a:p>
        </p:txBody>
      </p:sp>
      <p:sp>
        <p:nvSpPr>
          <p:cNvPr id="18" name="Text 15"/>
          <p:cNvSpPr txBox="1"/>
          <p:nvPr/>
        </p:nvSpPr>
        <p:spPr>
          <a:xfrm>
            <a:off x="6233008" y="3017520"/>
            <a:ext cx="2485568" cy="411480"/>
          </a:xfrm>
          <a:prstGeom prst="rect">
            <a:avLst/>
          </a:prstGeom>
          <a:noFill/>
          <a:ln/>
        </p:spPr>
        <p:txBody>
          <a:bodyPr wrap="square" lIns="0" tIns="0" rIns="0" bIns="0" rtlCol="0" anchor="t"/>
          <a:lstStyle/>
          <a:p>
            <a:pPr indent="0" marL="0">
              <a:buNone/>
            </a:pPr>
            <a:r>
              <a:rPr lang="en-US" sz="2200" b="1" dirty="0">
                <a:solidFill>
                  <a:schemeClr val="tx1"/>
                </a:solidFill>
              </a:rPr>
              <a:t>Pitch</a:t>
            </a:r>
            <a:endParaRPr lang="en-US" sz="2200" dirty="0"/>
          </a:p>
        </p:txBody>
      </p:sp>
      <p:sp>
        <p:nvSpPr>
          <p:cNvPr id="19" name="Text 16"/>
          <p:cNvSpPr txBox="1"/>
          <p:nvPr/>
        </p:nvSpPr>
        <p:spPr>
          <a:xfrm>
            <a:off x="6233008" y="3474720"/>
            <a:ext cx="2485568" cy="685800"/>
          </a:xfrm>
          <a:prstGeom prst="rect">
            <a:avLst/>
          </a:prstGeom>
          <a:noFill/>
          <a:ln/>
        </p:spPr>
        <p:txBody>
          <a:bodyPr wrap="square" lIns="0" tIns="0" rIns="0" bIns="0" rtlCol="0" anchor="t"/>
          <a:lstStyle/>
          <a:p>
            <a:pPr indent="0" marL="0">
              <a:buNone/>
            </a:pPr>
            <a:r>
              <a:rPr lang="en-US" sz="1400" dirty="0">
                <a:solidFill>
                  <a:schemeClr val="tx1"/>
                </a:solidFill>
              </a:rPr>
              <a:t>Story, deck and demo.</a:t>
            </a:r>
            <a:endParaRPr lang="en-US" sz="1400" dirty="0"/>
          </a:p>
        </p:txBody>
      </p:sp>
      <p:sp>
        <p:nvSpPr>
          <p:cNvPr id="20" name="Fill in"/>
          <p:cNvSpPr txBox="1"/>
          <p:nvPr/>
        </p:nvSpPr>
        <p:spPr>
          <a:xfrm>
            <a:off x="6233008" y="4251960"/>
            <a:ext cx="914400" cy="292608"/>
          </a:xfrm>
          <a:prstGeom prst="rect">
            <a:avLst/>
          </a:prstGeom>
          <a:solidFill>
            <a:schemeClr val="accent3"/>
          </a:solidFill>
          <a:ln/>
        </p:spPr>
        <p:txBody>
          <a:bodyPr wrap="square" lIns="50800" tIns="50800" rIns="50800" bIns="50800" rtlCol="0" anchor="ctr"/>
          <a:lstStyle/>
          <a:p>
            <a:pPr indent="0" marL="0">
              <a:buNone/>
            </a:pPr>
            <a:r>
              <a:rPr lang="en-US" sz="1200" dirty="0">
                <a:solidFill>
                  <a:schemeClr val="tx1"/>
                </a:solidFill>
                <a:latin typeface="Consolas" pitchFamily="34" charset="0"/>
                <a:ea typeface="Consolas" pitchFamily="34" charset="-122"/>
                <a:cs typeface="Consolas" pitchFamily="34" charset="-120"/>
              </a:rPr>
              <a:t>[Name]</a:t>
            </a:r>
            <a:endParaRPr lang="en-US" sz="1200" dirty="0"/>
          </a:p>
        </p:txBody>
      </p:sp>
      <p:sp>
        <p:nvSpPr>
          <p:cNvPr id="21" name="Shape 18"/>
          <p:cNvSpPr/>
          <p:nvPr/>
        </p:nvSpPr>
        <p:spPr>
          <a:xfrm>
            <a:off x="8992895" y="2606040"/>
            <a:ext cx="2485568" cy="0"/>
          </a:xfrm>
          <a:prstGeom prst="line">
            <a:avLst/>
          </a:prstGeom>
          <a:noFill/>
          <a:ln w="19050">
            <a:solidFill>
              <a:schemeClr val="tx1"/>
            </a:solidFill>
            <a:prstDash val="solid"/>
          </a:ln>
        </p:spPr>
      </p:sp>
      <p:sp>
        <p:nvSpPr>
          <p:cNvPr id="22" name="Text 19"/>
          <p:cNvSpPr txBox="1"/>
          <p:nvPr/>
        </p:nvSpPr>
        <p:spPr>
          <a:xfrm>
            <a:off x="8992895" y="2743200"/>
            <a:ext cx="2485568" cy="274320"/>
          </a:xfrm>
          <a:prstGeom prst="rect">
            <a:avLst/>
          </a:prstGeom>
          <a:noFill/>
          <a:ln/>
        </p:spPr>
        <p:txBody>
          <a:bodyPr wrap="square" lIns="0" tIns="0" rIns="0" bIns="0" rtlCol="0" anchor="t"/>
          <a:lstStyle/>
          <a:p>
            <a:pPr indent="0" marL="0">
              <a:buNone/>
            </a:pPr>
            <a:r>
              <a:rPr lang="en-US" sz="1100" b="1" dirty="0">
                <a:solidFill>
                  <a:schemeClr val="accent1"/>
                </a:solidFill>
                <a:latin typeface="Consolas" pitchFamily="34" charset="0"/>
                <a:ea typeface="Consolas" pitchFamily="34" charset="-122"/>
                <a:cs typeface="Consolas" pitchFamily="34" charset="-120"/>
              </a:rPr>
              <a:t>P4</a:t>
            </a:r>
            <a:endParaRPr lang="en-US" sz="1100" dirty="0"/>
          </a:p>
        </p:txBody>
      </p:sp>
      <p:sp>
        <p:nvSpPr>
          <p:cNvPr id="23" name="Text 20"/>
          <p:cNvSpPr txBox="1"/>
          <p:nvPr/>
        </p:nvSpPr>
        <p:spPr>
          <a:xfrm>
            <a:off x="8992895" y="3017520"/>
            <a:ext cx="2485568" cy="411480"/>
          </a:xfrm>
          <a:prstGeom prst="rect">
            <a:avLst/>
          </a:prstGeom>
          <a:noFill/>
          <a:ln/>
        </p:spPr>
        <p:txBody>
          <a:bodyPr wrap="square" lIns="0" tIns="0" rIns="0" bIns="0" rtlCol="0" anchor="t"/>
          <a:lstStyle/>
          <a:p>
            <a:pPr indent="0" marL="0">
              <a:buNone/>
            </a:pPr>
            <a:r>
              <a:rPr lang="en-US" sz="2200" b="1" dirty="0">
                <a:solidFill>
                  <a:schemeClr val="tx1"/>
                </a:solidFill>
              </a:rPr>
              <a:t>Website</a:t>
            </a:r>
            <a:endParaRPr lang="en-US" sz="2200" dirty="0"/>
          </a:p>
        </p:txBody>
      </p:sp>
      <p:sp>
        <p:nvSpPr>
          <p:cNvPr id="24" name="Text 21"/>
          <p:cNvSpPr txBox="1"/>
          <p:nvPr/>
        </p:nvSpPr>
        <p:spPr>
          <a:xfrm>
            <a:off x="8992895" y="3474720"/>
            <a:ext cx="2485568" cy="685800"/>
          </a:xfrm>
          <a:prstGeom prst="rect">
            <a:avLst/>
          </a:prstGeom>
          <a:noFill/>
          <a:ln/>
        </p:spPr>
        <p:txBody>
          <a:bodyPr wrap="square" lIns="0" tIns="0" rIns="0" bIns="0" rtlCol="0" anchor="t"/>
          <a:lstStyle/>
          <a:p>
            <a:pPr indent="0" marL="0">
              <a:buNone/>
            </a:pPr>
            <a:r>
              <a:rPr lang="en-US" sz="1400" dirty="0">
                <a:solidFill>
                  <a:schemeClr val="tx1"/>
                </a:solidFill>
              </a:rPr>
              <a:t>Streamlit dashboard: map, bug log, export.</a:t>
            </a:r>
            <a:endParaRPr lang="en-US" sz="1400" dirty="0"/>
          </a:p>
        </p:txBody>
      </p:sp>
      <p:sp>
        <p:nvSpPr>
          <p:cNvPr id="25" name="Fill in"/>
          <p:cNvSpPr txBox="1"/>
          <p:nvPr/>
        </p:nvSpPr>
        <p:spPr>
          <a:xfrm>
            <a:off x="8992895" y="4251960"/>
            <a:ext cx="914400" cy="292608"/>
          </a:xfrm>
          <a:prstGeom prst="rect">
            <a:avLst/>
          </a:prstGeom>
          <a:solidFill>
            <a:schemeClr val="accent3"/>
          </a:solidFill>
          <a:ln/>
        </p:spPr>
        <p:txBody>
          <a:bodyPr wrap="square" lIns="50800" tIns="50800" rIns="50800" bIns="50800" rtlCol="0" anchor="ctr"/>
          <a:lstStyle/>
          <a:p>
            <a:pPr indent="0" marL="0">
              <a:buNone/>
            </a:pPr>
            <a:r>
              <a:rPr lang="en-US" sz="1200" dirty="0">
                <a:solidFill>
                  <a:schemeClr val="tx1"/>
                </a:solidFill>
                <a:latin typeface="Consolas" pitchFamily="34" charset="0"/>
                <a:ea typeface="Consolas" pitchFamily="34" charset="-122"/>
                <a:cs typeface="Consolas" pitchFamily="34" charset="-120"/>
              </a:rPr>
              <a:t>[Name]</a:t>
            </a:r>
            <a:endParaRPr lang="en-US" sz="1200" dirty="0"/>
          </a:p>
        </p:txBody>
      </p:sp>
      <p:sp>
        <p:nvSpPr>
          <p:cNvPr id="26" name="Shape 23"/>
          <p:cNvSpPr/>
          <p:nvPr/>
        </p:nvSpPr>
        <p:spPr>
          <a:xfrm>
            <a:off x="713232" y="5824728"/>
            <a:ext cx="10765231" cy="0"/>
          </a:xfrm>
          <a:prstGeom prst="line">
            <a:avLst/>
          </a:prstGeom>
          <a:noFill/>
          <a:ln w="9525">
            <a:solidFill>
              <a:schemeClr val="accent2"/>
            </a:solidFill>
            <a:prstDash val="solid"/>
          </a:ln>
        </p:spPr>
      </p:sp>
      <p:sp>
        <p:nvSpPr>
          <p:cNvPr id="27" name="Text 24"/>
          <p:cNvSpPr txBox="1"/>
          <p:nvPr/>
        </p:nvSpPr>
        <p:spPr>
          <a:xfrm>
            <a:off x="713232" y="5925312"/>
            <a:ext cx="5943600" cy="27432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agent → engine → telemetry → detector → reporter → dashboard</a:t>
            </a:r>
            <a:endParaRPr lang="en-US" sz="1000" dirty="0"/>
          </a:p>
        </p:txBody>
      </p:sp>
      <p:sp>
        <p:nvSpPr>
          <p:cNvPr id="28" name="Text 25"/>
          <p:cNvSpPr txBox="1"/>
          <p:nvPr/>
        </p:nvSpPr>
        <p:spPr>
          <a:xfrm>
            <a:off x="6449263" y="5925312"/>
            <a:ext cx="5029200" cy="274320"/>
          </a:xfrm>
          <a:prstGeom prst="rect">
            <a:avLst/>
          </a:prstGeom>
          <a:noFill/>
          <a:ln/>
        </p:spPr>
        <p:txBody>
          <a:bodyPr wrap="square" lIns="0" tIns="0" rIns="0" bIns="0" rtlCol="0" anchor="t"/>
          <a:lstStyle/>
          <a:p>
            <a:pPr algn="r" indent="0" marL="0">
              <a:buNone/>
            </a:pPr>
            <a:r>
              <a:rPr lang="en-US" sz="1000" dirty="0">
                <a:solidFill>
                  <a:schemeClr val="tx2"/>
                </a:solidFill>
                <a:latin typeface="Consolas" pitchFamily="34" charset="0"/>
                <a:ea typeface="Consolas" pitchFamily="34" charset="-122"/>
                <a:cs typeface="Consolas" pitchFamily="34" charset="-120"/>
              </a:rPr>
              <a:t>Python · Pygame · Streamlit</a:t>
            </a:r>
            <a:endParaRPr lang="en-US" sz="1000" dirty="0"/>
          </a:p>
        </p:txBody>
      </p:sp>
      <p:sp>
        <p:nvSpPr>
          <p:cNvPr id="25" name="Slide Number Placeholder 0"/>
          <p:cNvSpPr>
            <a:spLocks noGrp="1"/>
          </p:cNvSpPr>
          <p:nvPr>
            <p:ph type="sldNum" sz="quarter" idx="4294967295"/>
          </p:nvPr>
        </p:nvSpPr>
        <p:spPr>
          <a:xfrm>
            <a:off x="713232" y="786384"/>
            <a:ext cx="54864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1"/>
                </a:solidFill>
                <a:latin typeface="Consolas"/>
                <a:ea typeface="Consolas"/>
                <a:cs typeface="Consolas"/>
              </a:defRPr>
            </a:lvl1pPr>
          </a:lstStyle>
          <a:p>
            <a:pPr algn="l"/>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1472184" y="786384"/>
            <a:ext cx="6583680" cy="292608"/>
          </a:xfrm>
          <a:prstGeom prst="rect">
            <a:avLst/>
          </a:prstGeom>
          <a:noFill/>
          <a:ln/>
        </p:spPr>
        <p:txBody>
          <a:bodyPr wrap="square" lIns="0" tIns="0" rIns="0" bIns="0" rtlCol="0" anchor="ctr"/>
          <a:lstStyle/>
          <a:p>
            <a:pPr indent="0" marL="0">
              <a:buNone/>
            </a:pPr>
            <a:r>
              <a:rPr lang="en-US" sz="1100" spc="100" kern="0" dirty="0">
                <a:solidFill>
                  <a:schemeClr val="accent5"/>
                </a:solidFill>
                <a:latin typeface="Consolas" pitchFamily="34" charset="0"/>
                <a:ea typeface="Consolas" pitchFamily="34" charset="-122"/>
                <a:cs typeface="Consolas" pitchFamily="34" charset="-120"/>
              </a:rPr>
              <a:t>NEXT STEPS</a:t>
            </a:r>
            <a:endParaRPr lang="en-US" sz="1100" dirty="0"/>
          </a:p>
        </p:txBody>
      </p:sp>
      <p:sp>
        <p:nvSpPr>
          <p:cNvPr id="3" name="Text 1"/>
          <p:cNvSpPr/>
          <p:nvPr>
            <p:ph idx="102" type="body" hasCustomPrompt="1"/>
          </p:nvPr>
        </p:nvSpPr>
        <p:spPr>
          <a:xfrm>
            <a:off x="6400800" y="786384"/>
            <a:ext cx="5077663" cy="292608"/>
          </a:xfrm>
          <a:prstGeom prst="rect">
            <a:avLst/>
          </a:prstGeom>
          <a:noFill/>
          <a:ln/>
        </p:spPr>
        <p:txBody>
          <a:bodyPr wrap="square" lIns="0" tIns="0" rIns="0" bIns="0" rtlCol="0" anchor="ctr"/>
          <a:lstStyle/>
          <a:p>
            <a:pPr algn="r" indent="0" marL="0">
              <a:buNone/>
            </a:pPr>
            <a:r>
              <a:rPr lang="en-US" sz="1100" dirty="0">
                <a:solidFill>
                  <a:schemeClr val="accent5"/>
                </a:solidFill>
                <a:latin typeface="Consolas" pitchFamily="34" charset="0"/>
                <a:ea typeface="Consolas" pitchFamily="34" charset="-122"/>
                <a:cs typeface="Consolas" pitchFamily="34" charset="-120"/>
              </a:rPr>
              <a:t>IndieQA</a:t>
            </a:r>
            <a:endParaRPr lang="en-US" sz="1100" dirty="0"/>
          </a:p>
        </p:txBody>
      </p:sp>
      <p:sp>
        <p:nvSpPr>
          <p:cNvPr id="5" name="Closing line"/>
          <p:cNvSpPr txBox="1"/>
          <p:nvPr/>
        </p:nvSpPr>
        <p:spPr>
          <a:xfrm>
            <a:off x="713232" y="1371600"/>
            <a:ext cx="9601200" cy="2103120"/>
          </a:xfrm>
          <a:prstGeom prst="rect">
            <a:avLst/>
          </a:prstGeom>
          <a:noFill/>
          <a:ln/>
        </p:spPr>
        <p:txBody>
          <a:bodyPr wrap="square" lIns="0" tIns="0" rIns="0" bIns="0" rtlCol="0" anchor="t"/>
          <a:lstStyle/>
          <a:p>
            <a:pPr indent="0" marL="0">
              <a:lnSpc>
                <a:spcPct val="92000"/>
              </a:lnSpc>
              <a:buNone/>
            </a:pPr>
            <a:r>
              <a:rPr lang="en-US" sz="6000" b="1" dirty="0">
                <a:solidFill>
                  <a:schemeClr val="bg1"/>
                </a:solidFill>
              </a:rPr>
              <a:t>Let the bot find the bug </a:t>
            </a:r>
            <a:pPr indent="0" marL="0">
              <a:lnSpc>
                <a:spcPct val="92000"/>
              </a:lnSpc>
              <a:buNone/>
            </a:pPr>
            <a:r>
              <a:rPr lang="en-US" sz="6000" b="1" dirty="0">
                <a:solidFill>
                  <a:schemeClr val="accent1"/>
                </a:solidFill>
              </a:rPr>
              <a:t>before</a:t>
            </a:r>
            <a:pPr indent="0" marL="0">
              <a:lnSpc>
                <a:spcPct val="92000"/>
              </a:lnSpc>
              <a:buNone/>
            </a:pPr>
            <a:r>
              <a:rPr lang="en-US" sz="6000" b="1" dirty="0">
                <a:solidFill>
                  <a:schemeClr val="bg1"/>
                </a:solidFill>
              </a:rPr>
              <a:t> your players do.</a:t>
            </a:r>
            <a:endParaRPr lang="en-US" sz="6000" dirty="0"/>
          </a:p>
        </p:txBody>
      </p:sp>
      <p:sp>
        <p:nvSpPr>
          <p:cNvPr id="6" name="Shape 3"/>
          <p:cNvSpPr/>
          <p:nvPr/>
        </p:nvSpPr>
        <p:spPr>
          <a:xfrm>
            <a:off x="713232" y="3977640"/>
            <a:ext cx="3405530" cy="0"/>
          </a:xfrm>
          <a:prstGeom prst="line">
            <a:avLst/>
          </a:prstGeom>
          <a:noFill/>
          <a:ln w="9525">
            <a:solidFill>
              <a:schemeClr val="accent6"/>
            </a:solidFill>
            <a:prstDash val="solid"/>
          </a:ln>
        </p:spPr>
      </p:sp>
      <p:sp>
        <p:nvSpPr>
          <p:cNvPr id="7" name="Text 4"/>
          <p:cNvSpPr txBox="1"/>
          <p:nvPr/>
        </p:nvSpPr>
        <p:spPr>
          <a:xfrm>
            <a:off x="713232" y="4114800"/>
            <a:ext cx="3405530" cy="256032"/>
          </a:xfrm>
          <a:prstGeom prst="rect">
            <a:avLst/>
          </a:prstGeom>
          <a:noFill/>
          <a:ln/>
        </p:spPr>
        <p:txBody>
          <a:bodyPr wrap="square" lIns="0" tIns="0" rIns="0" bIns="0" rtlCol="0" anchor="t"/>
          <a:lstStyle/>
          <a:p>
            <a:pPr indent="0" marL="0">
              <a:buNone/>
            </a:pPr>
            <a:r>
              <a:rPr lang="en-US" sz="1000" spc="200" kern="0" dirty="0">
                <a:solidFill>
                  <a:schemeClr val="accent5"/>
                </a:solidFill>
                <a:latin typeface="Consolas" pitchFamily="34" charset="0"/>
                <a:ea typeface="Consolas" pitchFamily="34" charset="-122"/>
                <a:cs typeface="Consolas" pitchFamily="34" charset="-120"/>
              </a:rPr>
              <a:t>NEXT · 1</a:t>
            </a:r>
            <a:endParaRPr lang="en-US" sz="1000" dirty="0"/>
          </a:p>
        </p:txBody>
      </p:sp>
      <p:sp>
        <p:nvSpPr>
          <p:cNvPr id="8" name="Text 5"/>
          <p:cNvSpPr txBox="1"/>
          <p:nvPr/>
        </p:nvSpPr>
        <p:spPr>
          <a:xfrm>
            <a:off x="713232" y="4434840"/>
            <a:ext cx="3405530" cy="914400"/>
          </a:xfrm>
          <a:prstGeom prst="rect">
            <a:avLst/>
          </a:prstGeom>
          <a:noFill/>
          <a:ln/>
        </p:spPr>
        <p:txBody>
          <a:bodyPr wrap="square" lIns="0" tIns="0" rIns="0" bIns="0" rtlCol="0" anchor="t"/>
          <a:lstStyle/>
          <a:p>
            <a:pPr indent="0" marL="0">
              <a:buNone/>
            </a:pPr>
            <a:r>
              <a:rPr lang="en-US" sz="1600" dirty="0">
                <a:solidFill>
                  <a:schemeClr val="bg1"/>
                </a:solidFill>
              </a:rPr>
              <a:t>Unity (C#) and Godot (GDScript) telemetry plug-ins over WebSocket.</a:t>
            </a:r>
            <a:endParaRPr lang="en-US" sz="1600" dirty="0"/>
          </a:p>
        </p:txBody>
      </p:sp>
      <p:sp>
        <p:nvSpPr>
          <p:cNvPr id="9" name="Shape 6"/>
          <p:cNvSpPr/>
          <p:nvPr/>
        </p:nvSpPr>
        <p:spPr>
          <a:xfrm>
            <a:off x="4393082" y="3977640"/>
            <a:ext cx="3405530" cy="0"/>
          </a:xfrm>
          <a:prstGeom prst="line">
            <a:avLst/>
          </a:prstGeom>
          <a:noFill/>
          <a:ln w="9525">
            <a:solidFill>
              <a:schemeClr val="accent6"/>
            </a:solidFill>
            <a:prstDash val="solid"/>
          </a:ln>
        </p:spPr>
      </p:sp>
      <p:sp>
        <p:nvSpPr>
          <p:cNvPr id="10" name="Text 7"/>
          <p:cNvSpPr txBox="1"/>
          <p:nvPr/>
        </p:nvSpPr>
        <p:spPr>
          <a:xfrm>
            <a:off x="4393082" y="4114800"/>
            <a:ext cx="3405530" cy="256032"/>
          </a:xfrm>
          <a:prstGeom prst="rect">
            <a:avLst/>
          </a:prstGeom>
          <a:noFill/>
          <a:ln/>
        </p:spPr>
        <p:txBody>
          <a:bodyPr wrap="square" lIns="0" tIns="0" rIns="0" bIns="0" rtlCol="0" anchor="t"/>
          <a:lstStyle/>
          <a:p>
            <a:pPr indent="0" marL="0">
              <a:buNone/>
            </a:pPr>
            <a:r>
              <a:rPr lang="en-US" sz="1000" spc="200" kern="0" dirty="0">
                <a:solidFill>
                  <a:schemeClr val="accent5"/>
                </a:solidFill>
                <a:latin typeface="Consolas" pitchFamily="34" charset="0"/>
                <a:ea typeface="Consolas" pitchFamily="34" charset="-122"/>
                <a:cs typeface="Consolas" pitchFamily="34" charset="-120"/>
              </a:rPr>
              <a:t>NEXT · 2</a:t>
            </a:r>
            <a:endParaRPr lang="en-US" sz="1000" dirty="0"/>
          </a:p>
        </p:txBody>
      </p:sp>
      <p:sp>
        <p:nvSpPr>
          <p:cNvPr id="11" name="Text 8"/>
          <p:cNvSpPr txBox="1"/>
          <p:nvPr/>
        </p:nvSpPr>
        <p:spPr>
          <a:xfrm>
            <a:off x="4393082" y="4434840"/>
            <a:ext cx="3405530" cy="914400"/>
          </a:xfrm>
          <a:prstGeom prst="rect">
            <a:avLst/>
          </a:prstGeom>
          <a:noFill/>
          <a:ln/>
        </p:spPr>
        <p:txBody>
          <a:bodyPr wrap="square" lIns="0" tIns="0" rIns="0" bIns="0" rtlCol="0" anchor="t"/>
          <a:lstStyle/>
          <a:p>
            <a:pPr indent="0" marL="0">
              <a:buNone/>
            </a:pPr>
            <a:r>
              <a:rPr lang="en-US" sz="1600" dirty="0">
                <a:solidFill>
                  <a:schemeClr val="bg1"/>
                </a:solidFill>
              </a:rPr>
              <a:t>Per-game detector thresholds, to cut false positives on custom physics.</a:t>
            </a:r>
            <a:endParaRPr lang="en-US" sz="1600" dirty="0"/>
          </a:p>
        </p:txBody>
      </p:sp>
      <p:sp>
        <p:nvSpPr>
          <p:cNvPr id="12" name="Shape 9"/>
          <p:cNvSpPr/>
          <p:nvPr/>
        </p:nvSpPr>
        <p:spPr>
          <a:xfrm>
            <a:off x="8072933" y="3977640"/>
            <a:ext cx="3405530" cy="0"/>
          </a:xfrm>
          <a:prstGeom prst="line">
            <a:avLst/>
          </a:prstGeom>
          <a:noFill/>
          <a:ln w="9525">
            <a:solidFill>
              <a:schemeClr val="accent6"/>
            </a:solidFill>
            <a:prstDash val="solid"/>
          </a:ln>
        </p:spPr>
      </p:sp>
      <p:sp>
        <p:nvSpPr>
          <p:cNvPr id="13" name="Text 10"/>
          <p:cNvSpPr txBox="1"/>
          <p:nvPr/>
        </p:nvSpPr>
        <p:spPr>
          <a:xfrm>
            <a:off x="8072933" y="4114800"/>
            <a:ext cx="3405530" cy="256032"/>
          </a:xfrm>
          <a:prstGeom prst="rect">
            <a:avLst/>
          </a:prstGeom>
          <a:noFill/>
          <a:ln/>
        </p:spPr>
        <p:txBody>
          <a:bodyPr wrap="square" lIns="0" tIns="0" rIns="0" bIns="0" rtlCol="0" anchor="t"/>
          <a:lstStyle/>
          <a:p>
            <a:pPr indent="0" marL="0">
              <a:buNone/>
            </a:pPr>
            <a:r>
              <a:rPr lang="en-US" sz="1000" spc="200" kern="0" dirty="0">
                <a:solidFill>
                  <a:schemeClr val="accent5"/>
                </a:solidFill>
                <a:latin typeface="Consolas" pitchFamily="34" charset="0"/>
                <a:ea typeface="Consolas" pitchFamily="34" charset="-122"/>
                <a:cs typeface="Consolas" pitchFamily="34" charset="-120"/>
              </a:rPr>
              <a:t>NEXT · 3</a:t>
            </a:r>
            <a:endParaRPr lang="en-US" sz="1000" dirty="0"/>
          </a:p>
        </p:txBody>
      </p:sp>
      <p:sp>
        <p:nvSpPr>
          <p:cNvPr id="14" name="Text 11"/>
          <p:cNvSpPr txBox="1"/>
          <p:nvPr/>
        </p:nvSpPr>
        <p:spPr>
          <a:xfrm>
            <a:off x="8072933" y="4434840"/>
            <a:ext cx="3405530" cy="914400"/>
          </a:xfrm>
          <a:prstGeom prst="rect">
            <a:avLst/>
          </a:prstGeom>
          <a:noFill/>
          <a:ln/>
        </p:spPr>
        <p:txBody>
          <a:bodyPr wrap="square" lIns="0" tIns="0" rIns="0" bIns="0" rtlCol="0" anchor="t"/>
          <a:lstStyle/>
          <a:p>
            <a:pPr indent="0" marL="0">
              <a:buNone/>
            </a:pPr>
            <a:r>
              <a:rPr lang="en-US" sz="1600" dirty="0">
                <a:solidFill>
                  <a:schemeClr val="bg1"/>
                </a:solidFill>
              </a:rPr>
              <a:t>Run it on real indie levels.</a:t>
            </a:r>
            <a:endParaRPr lang="en-US" sz="1600" dirty="0"/>
          </a:p>
        </p:txBody>
      </p:sp>
      <p:sp>
        <p:nvSpPr>
          <p:cNvPr id="15" name="Shape 12"/>
          <p:cNvSpPr/>
          <p:nvPr/>
        </p:nvSpPr>
        <p:spPr>
          <a:xfrm>
            <a:off x="713232" y="5824728"/>
            <a:ext cx="10765231" cy="0"/>
          </a:xfrm>
          <a:prstGeom prst="line">
            <a:avLst/>
          </a:prstGeom>
          <a:noFill/>
          <a:ln w="9525">
            <a:solidFill>
              <a:schemeClr val="accent6"/>
            </a:solidFill>
            <a:prstDash val="solid"/>
          </a:ln>
        </p:spPr>
      </p:sp>
      <p:sp>
        <p:nvSpPr>
          <p:cNvPr id="16" name="Text 13"/>
          <p:cNvSpPr txBox="1"/>
          <p:nvPr/>
        </p:nvSpPr>
        <p:spPr>
          <a:xfrm>
            <a:off x="713232" y="5925312"/>
            <a:ext cx="5943600" cy="274320"/>
          </a:xfrm>
          <a:prstGeom prst="rect">
            <a:avLst/>
          </a:prstGeom>
          <a:noFill/>
          <a:ln/>
        </p:spPr>
        <p:txBody>
          <a:bodyPr wrap="square" lIns="0" tIns="0" rIns="0" bIns="0" rtlCol="0" anchor="t"/>
          <a:lstStyle/>
          <a:p>
            <a:pPr indent="0" marL="0">
              <a:buNone/>
            </a:pPr>
            <a:r>
              <a:rPr lang="en-US" sz="1000" dirty="0">
                <a:solidFill>
                  <a:schemeClr val="accent5"/>
                </a:solidFill>
                <a:latin typeface="Consolas" pitchFamily="34" charset="0"/>
                <a:ea typeface="Consolas" pitchFamily="34" charset="-122"/>
                <a:cs typeface="Consolas" pitchFamily="34" charset="-120"/>
              </a:rPr>
              <a:t>github.com/GasimovDev/indieQA_bot</a:t>
            </a:r>
            <a:endParaRPr lang="en-US" sz="1000" dirty="0"/>
          </a:p>
        </p:txBody>
      </p:sp>
      <p:sp>
        <p:nvSpPr>
          <p:cNvPr id="17" name="Text 14"/>
          <p:cNvSpPr txBox="1"/>
          <p:nvPr/>
        </p:nvSpPr>
        <p:spPr>
          <a:xfrm>
            <a:off x="6449263" y="5925312"/>
            <a:ext cx="5029200" cy="274320"/>
          </a:xfrm>
          <a:prstGeom prst="rect">
            <a:avLst/>
          </a:prstGeom>
          <a:noFill/>
          <a:ln/>
        </p:spPr>
        <p:txBody>
          <a:bodyPr wrap="square" lIns="0" tIns="0" rIns="0" bIns="0" rtlCol="0" anchor="t"/>
          <a:lstStyle/>
          <a:p>
            <a:pPr algn="r" indent="0" marL="0">
              <a:buNone/>
            </a:pPr>
            <a:r>
              <a:rPr lang="en-US" sz="1000" dirty="0">
                <a:solidFill>
                  <a:schemeClr val="accent5"/>
                </a:solidFill>
                <a:latin typeface="Consolas" pitchFamily="34" charset="0"/>
                <a:ea typeface="Consolas" pitchFamily="34" charset="-122"/>
                <a:cs typeface="Consolas" pitchFamily="34" charset="-120"/>
              </a:rPr>
              <a:t>Thank you</a:t>
            </a:r>
            <a:endParaRPr lang="en-US" sz="1000" dirty="0"/>
          </a:p>
        </p:txBody>
      </p:sp>
      <p:sp>
        <p:nvSpPr>
          <p:cNvPr id="25" name="Slide Number Placeholder 0"/>
          <p:cNvSpPr>
            <a:spLocks noGrp="1"/>
          </p:cNvSpPr>
          <p:nvPr>
            <p:ph type="sldNum" sz="quarter" idx="4294967295"/>
          </p:nvPr>
        </p:nvSpPr>
        <p:spPr>
          <a:xfrm>
            <a:off x="713232" y="786384"/>
            <a:ext cx="54864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bg1"/>
                </a:solidFill>
                <a:latin typeface="Consolas"/>
                <a:ea typeface="Consolas"/>
                <a:cs typeface="Consolas"/>
              </a:defRPr>
            </a:lvl1pPr>
          </a:lstStyle>
          <a:p>
            <a:pPr algn="l"/>
            <a:fld id="{F7021451-1387-4CA6-816F-3879F97B5CBC}" type="slidenum">
              <a:rPr b="1" lang="en-US"/>
              <a:t>12</a:t>
            </a:fld>
            <a:endParaRPr lang="en-US"/>
          </a:p>
        </p:txBody>
      </p:sp>
    </p:spTree>
  </p:cSld>
  <p:clrMapOvr>
    <a:masterClrMapping/>
  </p:clrMapOvr>
</p:sld>
</file>

<file path=ppt/theme/theme1.xml><?xml version="1.0" encoding="utf-8"?>
<a:theme xmlns:a="http://schemas.openxmlformats.org/drawingml/2006/main" name="IndieQA Swiss">
  <a:themeElements>
    <a:clrScheme name="IndieQA Swiss">
      <a:dk1>
        <a:srgbClr val="0F0F0E"/>
      </a:dk1>
      <a:lt1>
        <a:srgbClr val="F4F3EF"/>
      </a:lt1>
      <a:dk2>
        <a:srgbClr val="6A6964"/>
      </a:dk2>
      <a:lt2>
        <a:srgbClr val="E9E7E0"/>
      </a:lt2>
      <a:accent1>
        <a:srgbClr val="D7261E"/>
      </a:accent1>
      <a:accent2>
        <a:srgbClr val="D3D1C8"/>
      </a:accent2>
      <a:accent3>
        <a:srgbClr val="FFF3A6"/>
      </a:accent3>
      <a:accent4>
        <a:srgbClr val="FFFFFF"/>
      </a:accent4>
      <a:accent5>
        <a:srgbClr val="A9A79F"/>
      </a:accent5>
      <a:accent6>
        <a:srgbClr val="4A4A47"/>
      </a:accent6>
      <a:hlink>
        <a:srgbClr val="D7261E"/>
      </a:hlink>
      <a:folHlink>
        <a:srgbClr val="6A6964"/>
      </a:folHlink>
    </a:clrScheme>
    <a:fontScheme name="IndieQA Swis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IndieQA Pitch</dc:title>
  <dc:subject>PptxGenJS Presentation</dc:subject>
  <dc:creator>IndieQA team</dc:creator>
  <cp:lastModifiedBy>IndieQA team</cp:lastModifiedBy>
  <cp:revision>1</cp:revision>
  <dcterms:created xsi:type="dcterms:W3CDTF">2026-10-09T12:59:19Z</dcterms:created>
  <dcterms:modified xsi:type="dcterms:W3CDTF">2026-10-09T12:59:19Z</dcterms:modified>
</cp:coreProperties>
</file>